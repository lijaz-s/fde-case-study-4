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51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464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C51"/>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UST  |  FDE Capstone Program</a:t>
            </a:r>
            <a:endParaRPr lang="en-US" sz="900" dirty="0"/>
          </a:p>
        </p:txBody>
      </p:sp>
      <p:sp>
        <p:nvSpPr>
          <p:cNvPr id="3" name="Text 1"/>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01</a:t>
            </a:r>
            <a:endParaRPr lang="en-US" sz="900" dirty="0"/>
          </a:p>
        </p:txBody>
      </p:sp>
      <p:sp>
        <p:nvSpPr>
          <p:cNvPr id="4" name="Text 2"/>
          <p:cNvSpPr txBox="1"/>
          <p:nvPr/>
        </p:nvSpPr>
        <p:spPr>
          <a:xfrm>
            <a:off x="548640" y="1371600"/>
            <a:ext cx="10058400" cy="365760"/>
          </a:xfrm>
          <a:prstGeom prst="rect">
            <a:avLst/>
          </a:prstGeom>
          <a:noFill/>
          <a:ln/>
        </p:spPr>
        <p:txBody>
          <a:bodyPr wrap="square" lIns="0" tIns="0" rIns="0" bIns="0" rtlCol="0" anchor="ctr"/>
          <a:lstStyle/>
          <a:p>
            <a:pPr marL="0" indent="0">
              <a:buNone/>
            </a:pPr>
            <a:r>
              <a:rPr lang="en-US" sz="1400" b="1" kern="0" spc="200" dirty="0">
                <a:solidFill>
                  <a:srgbClr val="12B28F"/>
                </a:solidFill>
                <a:latin typeface="Calibri" pitchFamily="34" charset="0"/>
                <a:ea typeface="Calibri" pitchFamily="34" charset="-122"/>
                <a:cs typeface="Calibri" pitchFamily="34" charset="-120"/>
              </a:rPr>
              <a:t>FDE CAPSTONE PROJECT</a:t>
            </a:r>
            <a:endParaRPr lang="en-US" sz="1400" dirty="0"/>
          </a:p>
        </p:txBody>
      </p:sp>
      <p:sp>
        <p:nvSpPr>
          <p:cNvPr id="5" name="Text 3"/>
          <p:cNvSpPr txBox="1"/>
          <p:nvPr/>
        </p:nvSpPr>
        <p:spPr>
          <a:xfrm>
            <a:off x="548640" y="1828800"/>
            <a:ext cx="10515600" cy="1737360"/>
          </a:xfrm>
          <a:prstGeom prst="rect">
            <a:avLst/>
          </a:prstGeom>
          <a:noFill/>
          <a:ln/>
        </p:spPr>
        <p:txBody>
          <a:bodyPr wrap="square" lIns="0" tIns="0" rIns="0" bIns="0" rtlCol="0" anchor="ctr"/>
          <a:lstStyle/>
          <a:p>
            <a:pPr marL="0" indent="0">
              <a:lnSpc>
                <a:spcPts val="5000"/>
              </a:lnSpc>
              <a:buNone/>
            </a:pPr>
            <a:r>
              <a:rPr lang="en-US" sz="4400" b="1" dirty="0">
                <a:solidFill>
                  <a:srgbClr val="FFFFFF"/>
                </a:solidFill>
                <a:latin typeface="Calibri" pitchFamily="34" charset="0"/>
                <a:ea typeface="Calibri" pitchFamily="34" charset="-122"/>
                <a:cs typeface="Calibri" pitchFamily="34" charset="-120"/>
              </a:rPr>
              <a:t>Predictive Maintenance</a:t>
            </a:r>
            <a:endParaRPr lang="en-US" sz="4400" dirty="0"/>
          </a:p>
          <a:p>
            <a:pPr marL="0" indent="0">
              <a:lnSpc>
                <a:spcPts val="5000"/>
              </a:lnSpc>
              <a:buNone/>
            </a:pPr>
            <a:r>
              <a:rPr lang="en-US" sz="4400" b="1" dirty="0">
                <a:solidFill>
                  <a:srgbClr val="FFFFFF"/>
                </a:solidFill>
                <a:latin typeface="Calibri" pitchFamily="34" charset="0"/>
                <a:ea typeface="Calibri" pitchFamily="34" charset="-122"/>
                <a:cs typeface="Calibri" pitchFamily="34" charset="-120"/>
              </a:rPr>
              <a:t>Analysis Agent</a:t>
            </a:r>
            <a:endParaRPr lang="en-US" sz="4400" dirty="0"/>
          </a:p>
        </p:txBody>
      </p:sp>
      <p:sp>
        <p:nvSpPr>
          <p:cNvPr id="6" name="Text 4"/>
          <p:cNvSpPr txBox="1"/>
          <p:nvPr/>
        </p:nvSpPr>
        <p:spPr>
          <a:xfrm>
            <a:off x="548640" y="3611880"/>
            <a:ext cx="9601200" cy="457200"/>
          </a:xfrm>
          <a:prstGeom prst="rect">
            <a:avLst/>
          </a:prstGeom>
          <a:noFill/>
          <a:ln/>
        </p:spPr>
        <p:txBody>
          <a:bodyPr wrap="square" lIns="0" tIns="0" rIns="0" bIns="0" rtlCol="0" anchor="ctr"/>
          <a:lstStyle/>
          <a:p>
            <a:pPr marL="0" indent="0">
              <a:buNone/>
            </a:pPr>
            <a:r>
              <a:rPr lang="en-US" sz="1500" dirty="0">
                <a:solidFill>
                  <a:srgbClr val="E3EFEF"/>
                </a:solidFill>
                <a:latin typeface="Calibri" pitchFamily="34" charset="0"/>
                <a:ea typeface="Calibri" pitchFamily="34" charset="-122"/>
                <a:cs typeface="Calibri" pitchFamily="34" charset="-120"/>
              </a:rPr>
              <a:t>Turning scattered machine data into early warning signals for a Tier-2 automotive supplier</a:t>
            </a:r>
            <a:endParaRPr lang="en-US" sz="1500" dirty="0"/>
          </a:p>
        </p:txBody>
      </p:sp>
      <p:sp>
        <p:nvSpPr>
          <p:cNvPr id="7" name="Shape 5"/>
          <p:cNvSpPr/>
          <p:nvPr/>
        </p:nvSpPr>
        <p:spPr>
          <a:xfrm>
            <a:off x="548640" y="4343400"/>
            <a:ext cx="1828800" cy="457200"/>
          </a:xfrm>
          <a:prstGeom prst="roundRect">
            <a:avLst>
              <a:gd name="adj" fmla="val 12000"/>
            </a:avLst>
          </a:prstGeom>
          <a:solidFill>
            <a:srgbClr val="0A4E63"/>
          </a:solidFill>
          <a:ln w="12700">
            <a:solidFill>
              <a:srgbClr val="12B28F"/>
            </a:solidFill>
            <a:prstDash val="solid"/>
          </a:ln>
        </p:spPr>
        <p:txBody>
          <a:bodyPr/>
          <a:lstStyle/>
          <a:p>
            <a:endParaRPr lang="en-IN"/>
          </a:p>
        </p:txBody>
      </p:sp>
      <p:sp>
        <p:nvSpPr>
          <p:cNvPr id="8" name="Text 6"/>
          <p:cNvSpPr txBox="1"/>
          <p:nvPr/>
        </p:nvSpPr>
        <p:spPr>
          <a:xfrm>
            <a:off x="548640" y="4343400"/>
            <a:ext cx="18288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Discover</a:t>
            </a:r>
            <a:endParaRPr lang="en-US" sz="1300" dirty="0"/>
          </a:p>
        </p:txBody>
      </p:sp>
      <p:sp>
        <p:nvSpPr>
          <p:cNvPr id="9" name="Text 7"/>
          <p:cNvSpPr txBox="1"/>
          <p:nvPr/>
        </p:nvSpPr>
        <p:spPr>
          <a:xfrm>
            <a:off x="2377440" y="4343400"/>
            <a:ext cx="320040" cy="457200"/>
          </a:xfrm>
          <a:prstGeom prst="rect">
            <a:avLst/>
          </a:prstGeom>
          <a:noFill/>
          <a:ln/>
        </p:spPr>
        <p:txBody>
          <a:bodyPr wrap="square" lIns="0" tIns="0" rIns="0" bIns="0" rtlCol="0" anchor="ctr"/>
          <a:lstStyle/>
          <a:p>
            <a:pPr marL="0" indent="0" algn="ctr">
              <a:buNone/>
            </a:pPr>
            <a:r>
              <a:rPr lang="en-US" sz="1400" dirty="0">
                <a:solidFill>
                  <a:srgbClr val="12B28F"/>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697480" y="4343400"/>
            <a:ext cx="1828800" cy="457200"/>
          </a:xfrm>
          <a:prstGeom prst="roundRect">
            <a:avLst>
              <a:gd name="adj" fmla="val 12000"/>
            </a:avLst>
          </a:prstGeom>
          <a:solidFill>
            <a:srgbClr val="0A4E63"/>
          </a:solidFill>
          <a:ln w="12700">
            <a:solidFill>
              <a:srgbClr val="12B28F"/>
            </a:solidFill>
            <a:prstDash val="solid"/>
          </a:ln>
        </p:spPr>
        <p:txBody>
          <a:bodyPr/>
          <a:lstStyle/>
          <a:p>
            <a:endParaRPr lang="en-IN"/>
          </a:p>
        </p:txBody>
      </p:sp>
      <p:sp>
        <p:nvSpPr>
          <p:cNvPr id="11" name="Text 9"/>
          <p:cNvSpPr txBox="1"/>
          <p:nvPr/>
        </p:nvSpPr>
        <p:spPr>
          <a:xfrm>
            <a:off x="2697480" y="4343400"/>
            <a:ext cx="18288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p>
        </p:txBody>
      </p:sp>
      <p:sp>
        <p:nvSpPr>
          <p:cNvPr id="12" name="Text 10"/>
          <p:cNvSpPr txBox="1"/>
          <p:nvPr/>
        </p:nvSpPr>
        <p:spPr>
          <a:xfrm>
            <a:off x="4526280" y="4343400"/>
            <a:ext cx="320040" cy="457200"/>
          </a:xfrm>
          <a:prstGeom prst="rect">
            <a:avLst/>
          </a:prstGeom>
          <a:noFill/>
          <a:ln/>
        </p:spPr>
        <p:txBody>
          <a:bodyPr wrap="square" lIns="0" tIns="0" rIns="0" bIns="0" rtlCol="0" anchor="ctr"/>
          <a:lstStyle/>
          <a:p>
            <a:pPr marL="0" indent="0" algn="ctr">
              <a:buNone/>
            </a:pPr>
            <a:r>
              <a:rPr lang="en-US" sz="1400" dirty="0">
                <a:solidFill>
                  <a:srgbClr val="12B28F"/>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4846320" y="4343400"/>
            <a:ext cx="1828800" cy="457200"/>
          </a:xfrm>
          <a:prstGeom prst="roundRect">
            <a:avLst>
              <a:gd name="adj" fmla="val 12000"/>
            </a:avLst>
          </a:prstGeom>
          <a:solidFill>
            <a:srgbClr val="0A4E63"/>
          </a:solidFill>
          <a:ln w="12700">
            <a:solidFill>
              <a:srgbClr val="12B28F"/>
            </a:solidFill>
            <a:prstDash val="solid"/>
          </a:ln>
        </p:spPr>
        <p:txBody>
          <a:bodyPr/>
          <a:lstStyle/>
          <a:p>
            <a:endParaRPr lang="en-IN"/>
          </a:p>
        </p:txBody>
      </p:sp>
      <p:sp>
        <p:nvSpPr>
          <p:cNvPr id="14" name="Text 12"/>
          <p:cNvSpPr txBox="1"/>
          <p:nvPr/>
        </p:nvSpPr>
        <p:spPr>
          <a:xfrm>
            <a:off x="4846320" y="4343400"/>
            <a:ext cx="18288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Defend</a:t>
            </a:r>
            <a:endParaRPr lang="en-US" sz="1300" dirty="0"/>
          </a:p>
        </p:txBody>
      </p:sp>
      <p:sp>
        <p:nvSpPr>
          <p:cNvPr id="15" name="Text 13"/>
          <p:cNvSpPr txBox="1"/>
          <p:nvPr/>
        </p:nvSpPr>
        <p:spPr>
          <a:xfrm>
            <a:off x="548640" y="5257800"/>
            <a:ext cx="2743200" cy="274320"/>
          </a:xfrm>
          <a:prstGeom prst="rect">
            <a:avLst/>
          </a:prstGeom>
          <a:noFill/>
          <a:ln/>
        </p:spPr>
        <p:txBody>
          <a:bodyPr wrap="square" lIns="0" tIns="0" rIns="0" bIns="0" rtlCol="0" anchor="ctr"/>
          <a:lstStyle/>
          <a:p>
            <a:pPr marL="0" indent="0">
              <a:buNone/>
            </a:pPr>
            <a:r>
              <a:rPr lang="en-US" sz="1100" b="1" kern="0" spc="100" dirty="0">
                <a:solidFill>
                  <a:srgbClr val="8D9AA1"/>
                </a:solidFill>
                <a:latin typeface="Calibri" pitchFamily="34" charset="0"/>
                <a:ea typeface="Calibri" pitchFamily="34" charset="-122"/>
                <a:cs typeface="Calibri" pitchFamily="34" charset="-120"/>
              </a:rPr>
              <a:t>Team</a:t>
            </a:r>
            <a:endParaRPr lang="en-US" sz="1100" dirty="0"/>
          </a:p>
        </p:txBody>
      </p:sp>
      <p:sp>
        <p:nvSpPr>
          <p:cNvPr id="16" name="Text 14"/>
          <p:cNvSpPr txBox="1"/>
          <p:nvPr/>
        </p:nvSpPr>
        <p:spPr>
          <a:xfrm>
            <a:off x="548640" y="5532120"/>
            <a:ext cx="914400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Lijaz Salim   ·   Keerthana   ·   Krithik</a:t>
            </a:r>
            <a:endParaRPr lang="en-US" sz="1800" dirty="0"/>
          </a:p>
        </p:txBody>
      </p:sp>
      <p:sp>
        <p:nvSpPr>
          <p:cNvPr id="17" name="Text 15"/>
          <p:cNvSpPr txBox="1"/>
          <p:nvPr/>
        </p:nvSpPr>
        <p:spPr>
          <a:xfrm>
            <a:off x="548640" y="5989320"/>
            <a:ext cx="9144000" cy="320040"/>
          </a:xfrm>
          <a:prstGeom prst="rect">
            <a:avLst/>
          </a:prstGeom>
          <a:noFill/>
          <a:ln/>
        </p:spPr>
        <p:txBody>
          <a:bodyPr wrap="square" lIns="0" tIns="0" rIns="0" bIns="0" rtlCol="0" anchor="ctr"/>
          <a:lstStyle/>
          <a:p>
            <a:pPr marL="0" indent="0">
              <a:buNone/>
            </a:pPr>
            <a:r>
              <a:rPr lang="en-US" sz="1200" dirty="0">
                <a:solidFill>
                  <a:srgbClr val="E3EFEF"/>
                </a:solidFill>
                <a:latin typeface="Calibri" pitchFamily="34" charset="0"/>
                <a:ea typeface="Calibri" pitchFamily="34" charset="-122"/>
                <a:cs typeface="Calibri" pitchFamily="34" charset="-120"/>
              </a:rPr>
              <a:t>UST – G A Menon Academy  |  Final Presentation, 24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Our journey in Phases</a:t>
            </a:r>
            <a:endParaRPr lang="en-US" sz="30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5" name="Text 3"/>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02</a:t>
            </a:r>
            <a:endParaRPr lang="en-US" sz="900" dirty="0"/>
          </a:p>
        </p:txBody>
      </p:sp>
      <p:sp>
        <p:nvSpPr>
          <p:cNvPr id="6" name="Shape 4"/>
          <p:cNvSpPr/>
          <p:nvPr/>
        </p:nvSpPr>
        <p:spPr>
          <a:xfrm>
            <a:off x="548640" y="1828800"/>
            <a:ext cx="3505200" cy="3566160"/>
          </a:xfrm>
          <a:prstGeom prst="rect">
            <a:avLst/>
          </a:prstGeom>
          <a:solidFill>
            <a:srgbClr val="F2F8F8"/>
          </a:solidFill>
          <a:ln/>
        </p:spPr>
        <p:txBody>
          <a:bodyPr/>
          <a:lstStyle/>
          <a:p>
            <a:endParaRPr lang="en-IN"/>
          </a:p>
        </p:txBody>
      </p:sp>
      <p:sp>
        <p:nvSpPr>
          <p:cNvPr id="7" name="Text 5"/>
          <p:cNvSpPr txBox="1"/>
          <p:nvPr/>
        </p:nvSpPr>
        <p:spPr>
          <a:xfrm>
            <a:off x="822960" y="2057400"/>
            <a:ext cx="2956560" cy="640080"/>
          </a:xfrm>
          <a:prstGeom prst="rect">
            <a:avLst/>
          </a:prstGeom>
          <a:noFill/>
          <a:ln/>
        </p:spPr>
        <p:txBody>
          <a:bodyPr wrap="square" lIns="0" tIns="0" rIns="0" bIns="0" rtlCol="0" anchor="ctr"/>
          <a:lstStyle/>
          <a:p>
            <a:pPr marL="0" indent="0">
              <a:buNone/>
            </a:pPr>
            <a:r>
              <a:rPr lang="en-US" sz="3000" b="1" dirty="0">
                <a:solidFill>
                  <a:srgbClr val="00778B"/>
                </a:solidFill>
                <a:latin typeface="Calibri" pitchFamily="34" charset="0"/>
                <a:ea typeface="Calibri" pitchFamily="34" charset="-122"/>
                <a:cs typeface="Calibri" pitchFamily="34" charset="-120"/>
              </a:rPr>
              <a:t>01</a:t>
            </a:r>
            <a:endParaRPr lang="en-US" sz="3000" dirty="0"/>
          </a:p>
        </p:txBody>
      </p:sp>
      <p:sp>
        <p:nvSpPr>
          <p:cNvPr id="8" name="Text 6"/>
          <p:cNvSpPr txBox="1"/>
          <p:nvPr/>
        </p:nvSpPr>
        <p:spPr>
          <a:xfrm>
            <a:off x="822960" y="2697480"/>
            <a:ext cx="2956560" cy="45720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Discover</a:t>
            </a:r>
            <a:endParaRPr lang="en-US" sz="1800" dirty="0"/>
          </a:p>
        </p:txBody>
      </p:sp>
      <p:sp>
        <p:nvSpPr>
          <p:cNvPr id="9" name="Text 7"/>
          <p:cNvSpPr txBox="1"/>
          <p:nvPr/>
        </p:nvSpPr>
        <p:spPr>
          <a:xfrm>
            <a:off x="822960" y="3200400"/>
            <a:ext cx="2956560" cy="1920240"/>
          </a:xfrm>
          <a:prstGeom prst="rect">
            <a:avLst/>
          </a:prstGeom>
          <a:noFill/>
          <a:ln/>
        </p:spPr>
        <p:txBody>
          <a:bodyPr wrap="square" lIns="0" tIns="0" rIns="0" bIns="0" rtlCol="0" anchor="t"/>
          <a:lstStyle/>
          <a:p>
            <a:pPr marL="0" indent="0">
              <a:buNone/>
            </a:pPr>
            <a:r>
              <a:rPr lang="en-US" sz="1300" dirty="0">
                <a:solidFill>
                  <a:srgbClr val="5A5A5A"/>
                </a:solidFill>
                <a:latin typeface="Calibri" pitchFamily="34" charset="0"/>
                <a:ea typeface="Calibri" pitchFamily="34" charset="-122"/>
                <a:cs typeface="Calibri" pitchFamily="34" charset="-120"/>
              </a:rPr>
              <a:t>Problem statement and problem framing canvas for the assigned use case</a:t>
            </a:r>
            <a:endParaRPr lang="en-US" sz="1300" dirty="0"/>
          </a:p>
        </p:txBody>
      </p:sp>
      <p:sp>
        <p:nvSpPr>
          <p:cNvPr id="10" name="Shape 8"/>
          <p:cNvSpPr/>
          <p:nvPr/>
        </p:nvSpPr>
        <p:spPr>
          <a:xfrm>
            <a:off x="4328160" y="1828800"/>
            <a:ext cx="3505200" cy="3566160"/>
          </a:xfrm>
          <a:prstGeom prst="rect">
            <a:avLst/>
          </a:prstGeom>
          <a:solidFill>
            <a:srgbClr val="F2F8F8"/>
          </a:solidFill>
          <a:ln/>
        </p:spPr>
        <p:txBody>
          <a:bodyPr/>
          <a:lstStyle/>
          <a:p>
            <a:endParaRPr lang="en-IN"/>
          </a:p>
        </p:txBody>
      </p:sp>
      <p:sp>
        <p:nvSpPr>
          <p:cNvPr id="11" name="Text 9"/>
          <p:cNvSpPr txBox="1"/>
          <p:nvPr/>
        </p:nvSpPr>
        <p:spPr>
          <a:xfrm>
            <a:off x="4602480" y="2057400"/>
            <a:ext cx="2956560" cy="640080"/>
          </a:xfrm>
          <a:prstGeom prst="rect">
            <a:avLst/>
          </a:prstGeom>
          <a:noFill/>
          <a:ln/>
        </p:spPr>
        <p:txBody>
          <a:bodyPr wrap="square" lIns="0" tIns="0" rIns="0" bIns="0" rtlCol="0" anchor="ctr"/>
          <a:lstStyle/>
          <a:p>
            <a:pPr marL="0" indent="0">
              <a:buNone/>
            </a:pPr>
            <a:r>
              <a:rPr lang="en-US" sz="3000" b="1" dirty="0">
                <a:solidFill>
                  <a:srgbClr val="00778B"/>
                </a:solidFill>
                <a:latin typeface="Calibri" pitchFamily="34" charset="0"/>
                <a:ea typeface="Calibri" pitchFamily="34" charset="-122"/>
                <a:cs typeface="Calibri" pitchFamily="34" charset="-120"/>
              </a:rPr>
              <a:t>02</a:t>
            </a:r>
            <a:endParaRPr lang="en-US" sz="3000" dirty="0"/>
          </a:p>
        </p:txBody>
      </p:sp>
      <p:sp>
        <p:nvSpPr>
          <p:cNvPr id="12" name="Text 10"/>
          <p:cNvSpPr txBox="1"/>
          <p:nvPr/>
        </p:nvSpPr>
        <p:spPr>
          <a:xfrm>
            <a:off x="4602480" y="2697480"/>
            <a:ext cx="2956560" cy="45720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Design</a:t>
            </a:r>
            <a:endParaRPr lang="en-US" sz="1800" dirty="0"/>
          </a:p>
        </p:txBody>
      </p:sp>
      <p:sp>
        <p:nvSpPr>
          <p:cNvPr id="13" name="Text 11"/>
          <p:cNvSpPr txBox="1"/>
          <p:nvPr/>
        </p:nvSpPr>
        <p:spPr>
          <a:xfrm>
            <a:off x="4602480" y="3200400"/>
            <a:ext cx="2956560" cy="1920240"/>
          </a:xfrm>
          <a:prstGeom prst="rect">
            <a:avLst/>
          </a:prstGeom>
          <a:noFill/>
          <a:ln/>
        </p:spPr>
        <p:txBody>
          <a:bodyPr wrap="square" lIns="0" tIns="0" rIns="0" bIns="0" rtlCol="0" anchor="t"/>
          <a:lstStyle/>
          <a:p>
            <a:pPr marL="0" indent="0">
              <a:buNone/>
            </a:pPr>
            <a:r>
              <a:rPr lang="en-US" sz="1300" dirty="0">
                <a:solidFill>
                  <a:srgbClr val="5A5A5A"/>
                </a:solidFill>
                <a:latin typeface="Calibri" pitchFamily="34" charset="0"/>
                <a:ea typeface="Calibri" pitchFamily="34" charset="-122"/>
                <a:cs typeface="Calibri" pitchFamily="34" charset="-120"/>
              </a:rPr>
              <a:t>Thin-slice scope, architecture decisions and the working prototype</a:t>
            </a:r>
            <a:endParaRPr lang="en-US" sz="1300" dirty="0"/>
          </a:p>
        </p:txBody>
      </p:sp>
      <p:sp>
        <p:nvSpPr>
          <p:cNvPr id="14" name="Shape 12"/>
          <p:cNvSpPr/>
          <p:nvPr/>
        </p:nvSpPr>
        <p:spPr>
          <a:xfrm>
            <a:off x="8107680" y="1828800"/>
            <a:ext cx="3505200" cy="3566160"/>
          </a:xfrm>
          <a:prstGeom prst="rect">
            <a:avLst/>
          </a:prstGeom>
          <a:solidFill>
            <a:srgbClr val="F2F8F8"/>
          </a:solidFill>
          <a:ln/>
        </p:spPr>
        <p:txBody>
          <a:bodyPr/>
          <a:lstStyle/>
          <a:p>
            <a:endParaRPr lang="en-IN"/>
          </a:p>
        </p:txBody>
      </p:sp>
      <p:sp>
        <p:nvSpPr>
          <p:cNvPr id="15" name="Text 13"/>
          <p:cNvSpPr txBox="1"/>
          <p:nvPr/>
        </p:nvSpPr>
        <p:spPr>
          <a:xfrm>
            <a:off x="8382000" y="2057400"/>
            <a:ext cx="2956560" cy="640080"/>
          </a:xfrm>
          <a:prstGeom prst="rect">
            <a:avLst/>
          </a:prstGeom>
          <a:noFill/>
          <a:ln/>
        </p:spPr>
        <p:txBody>
          <a:bodyPr wrap="square" lIns="0" tIns="0" rIns="0" bIns="0" rtlCol="0" anchor="ctr"/>
          <a:lstStyle/>
          <a:p>
            <a:pPr marL="0" indent="0">
              <a:buNone/>
            </a:pPr>
            <a:r>
              <a:rPr lang="en-US" sz="3000" b="1" dirty="0">
                <a:solidFill>
                  <a:srgbClr val="00778B"/>
                </a:solidFill>
                <a:latin typeface="Calibri" pitchFamily="34" charset="0"/>
                <a:ea typeface="Calibri" pitchFamily="34" charset="-122"/>
                <a:cs typeface="Calibri" pitchFamily="34" charset="-120"/>
              </a:rPr>
              <a:t>03</a:t>
            </a:r>
            <a:endParaRPr lang="en-US" sz="3000" dirty="0"/>
          </a:p>
        </p:txBody>
      </p:sp>
      <p:sp>
        <p:nvSpPr>
          <p:cNvPr id="16" name="Text 14"/>
          <p:cNvSpPr txBox="1"/>
          <p:nvPr/>
        </p:nvSpPr>
        <p:spPr>
          <a:xfrm>
            <a:off x="8382000" y="2697480"/>
            <a:ext cx="2956560" cy="457200"/>
          </a:xfrm>
          <a:prstGeom prst="rect">
            <a:avLst/>
          </a:prstGeom>
          <a:noFill/>
          <a:ln/>
        </p:spPr>
        <p:txBody>
          <a:bodyPr wrap="square" lIns="0" tIns="0" rIns="0" bIns="0" rtlCol="0" anchor="ctr"/>
          <a:lstStyle/>
          <a:p>
            <a:pPr marL="0" indent="0">
              <a:buNone/>
            </a:pPr>
            <a:r>
              <a:rPr lang="en-US" sz="1800" b="1" dirty="0">
                <a:solidFill>
                  <a:srgbClr val="1A1A1A"/>
                </a:solidFill>
                <a:latin typeface="Calibri" pitchFamily="34" charset="0"/>
                <a:ea typeface="Calibri" pitchFamily="34" charset="-122"/>
                <a:cs typeface="Calibri" pitchFamily="34" charset="-120"/>
              </a:rPr>
              <a:t>Defend</a:t>
            </a:r>
            <a:endParaRPr lang="en-US" sz="1800" dirty="0"/>
          </a:p>
        </p:txBody>
      </p:sp>
      <p:sp>
        <p:nvSpPr>
          <p:cNvPr id="17" name="Text 15"/>
          <p:cNvSpPr txBox="1"/>
          <p:nvPr/>
        </p:nvSpPr>
        <p:spPr>
          <a:xfrm>
            <a:off x="8382000" y="3200400"/>
            <a:ext cx="2956560" cy="1920240"/>
          </a:xfrm>
          <a:prstGeom prst="rect">
            <a:avLst/>
          </a:prstGeom>
          <a:noFill/>
          <a:ln/>
        </p:spPr>
        <p:txBody>
          <a:bodyPr wrap="square" lIns="0" tIns="0" rIns="0" bIns="0" rtlCol="0" anchor="t"/>
          <a:lstStyle/>
          <a:p>
            <a:pPr marL="0" indent="0">
              <a:buNone/>
            </a:pPr>
            <a:r>
              <a:rPr lang="en-US" sz="1300" dirty="0">
                <a:solidFill>
                  <a:srgbClr val="5A5A5A"/>
                </a:solidFill>
                <a:latin typeface="Calibri" pitchFamily="34" charset="0"/>
                <a:ea typeface="Calibri" pitchFamily="34" charset="-122"/>
                <a:cs typeface="Calibri" pitchFamily="34" charset="-120"/>
              </a:rPr>
              <a:t>Live demo, cost path to AI, and client-style Q&amp;A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DISCOVER</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Problem statement</a:t>
            </a:r>
            <a:endParaRPr lang="en-US" sz="3000" dirty="0"/>
          </a:p>
        </p:txBody>
      </p:sp>
      <p:sp>
        <p:nvSpPr>
          <p:cNvPr id="4" name="Text 2"/>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5" name="Text 3"/>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03</a:t>
            </a:r>
            <a:endParaRPr lang="en-US" sz="900" dirty="0"/>
          </a:p>
        </p:txBody>
      </p:sp>
      <p:sp>
        <p:nvSpPr>
          <p:cNvPr id="6" name="Text 4"/>
          <p:cNvSpPr txBox="1"/>
          <p:nvPr/>
        </p:nvSpPr>
        <p:spPr>
          <a:xfrm>
            <a:off x="548640" y="1737360"/>
            <a:ext cx="6400800" cy="4096512"/>
          </a:xfrm>
          <a:prstGeom prst="rect">
            <a:avLst/>
          </a:prstGeom>
          <a:noFill/>
          <a:ln/>
        </p:spPr>
        <p:txBody>
          <a:bodyPr wrap="square" lIns="0" tIns="0" rIns="0" bIns="0" rtlCol="0" anchor="t"/>
          <a:lstStyle/>
          <a:p>
            <a:r>
              <a:rPr lang="en-IN" sz="1600" dirty="0"/>
              <a:t>Today, the plant maintenance team relies on a third-party annual maintenance contract with checklist-based servicing, while machines are still breaking down roughly once every two days, causing major production stoppages costing around $10 million on average. </a:t>
            </a:r>
          </a:p>
          <a:p>
            <a:r>
              <a:rPr lang="en-IN" sz="1600" dirty="0"/>
              <a:t>We believe that combining existing telemetry , dashboard indicator and maintenance records will surface early warning signals before breakdown occurs. We will know we are right when machine stoppages reduce from roughly once every two days and warning indicators can be identified before a breakdown occurs. This is constrained by fragmented data across three different formats, including unstructured data, and around 20% of machines having no telemetry. The first thing we will build is a pilot that analyse existing  maintenance records, dashboard metrics, and available telemetry for a small set of critical machines, to test whether the existing data contains consistent patterns or signals that can predict upcoming failures.</a:t>
            </a:r>
          </a:p>
          <a:p>
            <a:endParaRPr lang="en-IN" sz="1600" dirty="0"/>
          </a:p>
          <a:p>
            <a:endParaRPr lang="en-IN" sz="1600" dirty="0"/>
          </a:p>
          <a:p>
            <a:endParaRPr lang="en-US" sz="1600" dirty="0"/>
          </a:p>
        </p:txBody>
      </p:sp>
      <p:sp>
        <p:nvSpPr>
          <p:cNvPr id="8" name="Shape 6"/>
          <p:cNvSpPr/>
          <p:nvPr/>
        </p:nvSpPr>
        <p:spPr>
          <a:xfrm>
            <a:off x="7406640" y="1737360"/>
            <a:ext cx="4206240" cy="1005840"/>
          </a:xfrm>
          <a:prstGeom prst="rect">
            <a:avLst/>
          </a:prstGeom>
          <a:solidFill>
            <a:srgbClr val="F2F8F8"/>
          </a:solidFill>
          <a:ln/>
        </p:spPr>
        <p:txBody>
          <a:bodyPr/>
          <a:lstStyle/>
          <a:p>
            <a:endParaRPr lang="en-IN"/>
          </a:p>
        </p:txBody>
      </p:sp>
      <p:sp>
        <p:nvSpPr>
          <p:cNvPr id="9" name="Text 7"/>
          <p:cNvSpPr txBox="1"/>
          <p:nvPr/>
        </p:nvSpPr>
        <p:spPr>
          <a:xfrm>
            <a:off x="7680960" y="1828800"/>
            <a:ext cx="3657600" cy="502920"/>
          </a:xfrm>
          <a:prstGeom prst="rect">
            <a:avLst/>
          </a:prstGeom>
          <a:noFill/>
          <a:ln/>
        </p:spPr>
        <p:txBody>
          <a:bodyPr wrap="square" lIns="0" tIns="0" rIns="0" bIns="0" rtlCol="0" anchor="ctr"/>
          <a:lstStyle/>
          <a:p>
            <a:pPr marL="0" indent="0">
              <a:buNone/>
            </a:pPr>
            <a:r>
              <a:rPr lang="en-US" sz="2600" b="1" dirty="0">
                <a:solidFill>
                  <a:srgbClr val="003C51"/>
                </a:solidFill>
                <a:latin typeface="Calibri" pitchFamily="34" charset="0"/>
                <a:ea typeface="Calibri" pitchFamily="34" charset="-122"/>
                <a:cs typeface="Calibri" pitchFamily="34" charset="-120"/>
              </a:rPr>
              <a:t>~$10M</a:t>
            </a:r>
            <a:endParaRPr lang="en-US" sz="2600" dirty="0"/>
          </a:p>
        </p:txBody>
      </p:sp>
      <p:sp>
        <p:nvSpPr>
          <p:cNvPr id="10" name="Text 8"/>
          <p:cNvSpPr txBox="1"/>
          <p:nvPr/>
        </p:nvSpPr>
        <p:spPr>
          <a:xfrm>
            <a:off x="7680960" y="2331720"/>
            <a:ext cx="3657600" cy="365760"/>
          </a:xfrm>
          <a:prstGeom prst="rect">
            <a:avLst/>
          </a:prstGeom>
          <a:noFill/>
          <a:ln/>
        </p:spPr>
        <p:txBody>
          <a:bodyPr wrap="square" lIns="0" tIns="0" rIns="0" bIns="0" rtlCol="0" anchor="ctr"/>
          <a:lstStyle/>
          <a:p>
            <a:pPr marL="0" indent="0">
              <a:buNone/>
            </a:pPr>
            <a:r>
              <a:rPr lang="en-US" sz="1100" dirty="0">
                <a:solidFill>
                  <a:srgbClr val="5A5A5A"/>
                </a:solidFill>
                <a:latin typeface="Calibri" pitchFamily="34" charset="0"/>
                <a:ea typeface="Calibri" pitchFamily="34" charset="-122"/>
                <a:cs typeface="Calibri" pitchFamily="34" charset="-120"/>
              </a:rPr>
              <a:t>average impact per stoppage pattern, today</a:t>
            </a:r>
            <a:endParaRPr lang="en-US" sz="1100" dirty="0"/>
          </a:p>
        </p:txBody>
      </p:sp>
      <p:sp>
        <p:nvSpPr>
          <p:cNvPr id="11" name="Shape 9"/>
          <p:cNvSpPr/>
          <p:nvPr/>
        </p:nvSpPr>
        <p:spPr>
          <a:xfrm>
            <a:off x="7406640" y="2926080"/>
            <a:ext cx="4206240" cy="1005840"/>
          </a:xfrm>
          <a:prstGeom prst="rect">
            <a:avLst/>
          </a:prstGeom>
          <a:solidFill>
            <a:srgbClr val="F2F8F8"/>
          </a:solidFill>
          <a:ln/>
        </p:spPr>
        <p:txBody>
          <a:bodyPr/>
          <a:lstStyle/>
          <a:p>
            <a:endParaRPr lang="en-IN"/>
          </a:p>
        </p:txBody>
      </p:sp>
      <p:sp>
        <p:nvSpPr>
          <p:cNvPr id="12" name="Text 10"/>
          <p:cNvSpPr txBox="1"/>
          <p:nvPr/>
        </p:nvSpPr>
        <p:spPr>
          <a:xfrm>
            <a:off x="7680960" y="3017520"/>
            <a:ext cx="3657600" cy="502920"/>
          </a:xfrm>
          <a:prstGeom prst="rect">
            <a:avLst/>
          </a:prstGeom>
          <a:noFill/>
          <a:ln/>
        </p:spPr>
        <p:txBody>
          <a:bodyPr wrap="square" lIns="0" tIns="0" rIns="0" bIns="0" rtlCol="0" anchor="ctr"/>
          <a:lstStyle/>
          <a:p>
            <a:pPr marL="0" indent="0">
              <a:buNone/>
            </a:pPr>
            <a:r>
              <a:rPr lang="en-US" sz="2600" b="1" dirty="0">
                <a:solidFill>
                  <a:srgbClr val="003C51"/>
                </a:solidFill>
                <a:latin typeface="Calibri" pitchFamily="34" charset="0"/>
                <a:ea typeface="Calibri" pitchFamily="34" charset="-122"/>
                <a:cs typeface="Calibri" pitchFamily="34" charset="-120"/>
              </a:rPr>
              <a:t>1 / 2 days</a:t>
            </a:r>
            <a:endParaRPr lang="en-US" sz="2600" dirty="0"/>
          </a:p>
        </p:txBody>
      </p:sp>
      <p:sp>
        <p:nvSpPr>
          <p:cNvPr id="13" name="Text 11"/>
          <p:cNvSpPr txBox="1"/>
          <p:nvPr/>
        </p:nvSpPr>
        <p:spPr>
          <a:xfrm>
            <a:off x="7680960" y="3520440"/>
            <a:ext cx="3657600" cy="365760"/>
          </a:xfrm>
          <a:prstGeom prst="rect">
            <a:avLst/>
          </a:prstGeom>
          <a:noFill/>
          <a:ln/>
        </p:spPr>
        <p:txBody>
          <a:bodyPr wrap="square" lIns="0" tIns="0" rIns="0" bIns="0" rtlCol="0" anchor="ctr"/>
          <a:lstStyle/>
          <a:p>
            <a:pPr marL="0" indent="0">
              <a:buNone/>
            </a:pPr>
            <a:r>
              <a:rPr lang="en-US" sz="1100" dirty="0">
                <a:solidFill>
                  <a:srgbClr val="5A5A5A"/>
                </a:solidFill>
                <a:latin typeface="Calibri" pitchFamily="34" charset="0"/>
                <a:ea typeface="Calibri" pitchFamily="34" charset="-122"/>
                <a:cs typeface="Calibri" pitchFamily="34" charset="-120"/>
              </a:rPr>
              <a:t>average frequency of unplanned breakdowns</a:t>
            </a:r>
            <a:endParaRPr lang="en-US" sz="1100" dirty="0"/>
          </a:p>
        </p:txBody>
      </p:sp>
      <p:sp>
        <p:nvSpPr>
          <p:cNvPr id="14" name="Shape 12"/>
          <p:cNvSpPr/>
          <p:nvPr/>
        </p:nvSpPr>
        <p:spPr>
          <a:xfrm>
            <a:off x="7406640" y="4114800"/>
            <a:ext cx="4206240" cy="1005840"/>
          </a:xfrm>
          <a:prstGeom prst="rect">
            <a:avLst/>
          </a:prstGeom>
          <a:solidFill>
            <a:srgbClr val="F2F8F8"/>
          </a:solidFill>
          <a:ln/>
        </p:spPr>
        <p:txBody>
          <a:bodyPr/>
          <a:lstStyle/>
          <a:p>
            <a:endParaRPr lang="en-IN"/>
          </a:p>
        </p:txBody>
      </p:sp>
      <p:sp>
        <p:nvSpPr>
          <p:cNvPr id="15" name="Text 13"/>
          <p:cNvSpPr txBox="1"/>
          <p:nvPr/>
        </p:nvSpPr>
        <p:spPr>
          <a:xfrm>
            <a:off x="7680960" y="4206240"/>
            <a:ext cx="3657600" cy="502920"/>
          </a:xfrm>
          <a:prstGeom prst="rect">
            <a:avLst/>
          </a:prstGeom>
          <a:noFill/>
          <a:ln/>
        </p:spPr>
        <p:txBody>
          <a:bodyPr wrap="square" lIns="0" tIns="0" rIns="0" bIns="0" rtlCol="0" anchor="ctr"/>
          <a:lstStyle/>
          <a:p>
            <a:pPr marL="0" indent="0">
              <a:buNone/>
            </a:pPr>
            <a:r>
              <a:rPr lang="en-US" sz="2600" b="1" dirty="0">
                <a:solidFill>
                  <a:srgbClr val="003C51"/>
                </a:solidFill>
                <a:latin typeface="Calibri" pitchFamily="34" charset="0"/>
                <a:ea typeface="Calibri" pitchFamily="34" charset="-122"/>
                <a:cs typeface="Calibri" pitchFamily="34" charset="-120"/>
              </a:rPr>
              <a:t>10 weeks</a:t>
            </a:r>
            <a:endParaRPr lang="en-US" sz="2600" dirty="0"/>
          </a:p>
        </p:txBody>
      </p:sp>
      <p:sp>
        <p:nvSpPr>
          <p:cNvPr id="16" name="Text 14"/>
          <p:cNvSpPr txBox="1"/>
          <p:nvPr/>
        </p:nvSpPr>
        <p:spPr>
          <a:xfrm>
            <a:off x="7680960" y="4709160"/>
            <a:ext cx="3657600" cy="365760"/>
          </a:xfrm>
          <a:prstGeom prst="rect">
            <a:avLst/>
          </a:prstGeom>
          <a:noFill/>
          <a:ln/>
        </p:spPr>
        <p:txBody>
          <a:bodyPr wrap="square" lIns="0" tIns="0" rIns="0" bIns="0" rtlCol="0" anchor="ctr"/>
          <a:lstStyle/>
          <a:p>
            <a:pPr marL="0" indent="0">
              <a:buNone/>
            </a:pPr>
            <a:r>
              <a:rPr lang="en-US" sz="1100" dirty="0">
                <a:solidFill>
                  <a:srgbClr val="5A5A5A"/>
                </a:solidFill>
                <a:latin typeface="Calibri" pitchFamily="34" charset="0"/>
                <a:ea typeface="Calibri" pitchFamily="34" charset="-122"/>
                <a:cs typeface="Calibri" pitchFamily="34" charset="-120"/>
              </a:rPr>
              <a:t>until the next OEM supplier scorecard is due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DISCOVER</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Problem framing canvas</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Structuring the problem before designing a solution</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04</a:t>
            </a:r>
            <a:endParaRPr lang="en-US" sz="900" dirty="0"/>
          </a:p>
        </p:txBody>
      </p:sp>
      <p:sp>
        <p:nvSpPr>
          <p:cNvPr id="7" name="Shape 5"/>
          <p:cNvSpPr/>
          <p:nvPr/>
        </p:nvSpPr>
        <p:spPr>
          <a:xfrm>
            <a:off x="548640" y="1920240"/>
            <a:ext cx="5394960" cy="1280160"/>
          </a:xfrm>
          <a:prstGeom prst="rect">
            <a:avLst/>
          </a:prstGeom>
          <a:solidFill>
            <a:srgbClr val="F2F8F8"/>
          </a:solidFill>
          <a:ln/>
        </p:spPr>
        <p:txBody>
          <a:bodyPr/>
          <a:lstStyle/>
          <a:p>
            <a:endParaRPr lang="en-IN" dirty="0"/>
          </a:p>
        </p:txBody>
      </p:sp>
      <p:sp>
        <p:nvSpPr>
          <p:cNvPr id="8" name="Shape 6"/>
          <p:cNvSpPr/>
          <p:nvPr/>
        </p:nvSpPr>
        <p:spPr>
          <a:xfrm>
            <a:off x="548640" y="1920240"/>
            <a:ext cx="54864" cy="1280160"/>
          </a:xfrm>
          <a:prstGeom prst="rect">
            <a:avLst/>
          </a:prstGeom>
          <a:solidFill>
            <a:srgbClr val="00778B"/>
          </a:solidFill>
          <a:ln/>
        </p:spPr>
        <p:txBody>
          <a:bodyPr/>
          <a:lstStyle/>
          <a:p>
            <a:endParaRPr lang="en-IN"/>
          </a:p>
        </p:txBody>
      </p:sp>
      <p:sp>
        <p:nvSpPr>
          <p:cNvPr id="9" name="Text 7"/>
          <p:cNvSpPr txBox="1"/>
          <p:nvPr/>
        </p:nvSpPr>
        <p:spPr>
          <a:xfrm>
            <a:off x="777240" y="2029968"/>
            <a:ext cx="4937760" cy="274320"/>
          </a:xfrm>
          <a:prstGeom prst="rect">
            <a:avLst/>
          </a:prstGeom>
          <a:noFill/>
          <a:ln/>
        </p:spPr>
        <p:txBody>
          <a:bodyPr wrap="square" lIns="0" tIns="0" rIns="0" bIns="0" rtlCol="0" anchor="ctr"/>
          <a:lstStyle/>
          <a:p>
            <a:pPr marL="0" indent="0">
              <a:buNone/>
            </a:pPr>
            <a:r>
              <a:rPr lang="en-US" sz="1050" b="1" kern="0" spc="50" dirty="0">
                <a:solidFill>
                  <a:srgbClr val="00778B"/>
                </a:solidFill>
                <a:latin typeface="Calibri" pitchFamily="34" charset="0"/>
                <a:ea typeface="Calibri" pitchFamily="34" charset="-122"/>
                <a:cs typeface="Calibri" pitchFamily="34" charset="-120"/>
              </a:rPr>
              <a:t>TRIGGER</a:t>
            </a:r>
            <a:endParaRPr lang="en-US" sz="1050" dirty="0"/>
          </a:p>
        </p:txBody>
      </p:sp>
      <p:sp>
        <p:nvSpPr>
          <p:cNvPr id="10" name="Text 8"/>
          <p:cNvSpPr txBox="1"/>
          <p:nvPr/>
        </p:nvSpPr>
        <p:spPr>
          <a:xfrm>
            <a:off x="777240" y="2212848"/>
            <a:ext cx="4937760" cy="91440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Machines shutting down every 2 days, causing major business impact</a:t>
            </a:r>
          </a:p>
          <a:p>
            <a:pPr marL="0" indent="0">
              <a:buNone/>
            </a:pPr>
            <a:endParaRPr lang="en-US" sz="1150" dirty="0">
              <a:solidFill>
                <a:srgbClr val="1A1A1A"/>
              </a:solidFill>
              <a:latin typeface="Calibri" pitchFamily="34" charset="0"/>
              <a:ea typeface="Calibri" pitchFamily="34" charset="-122"/>
              <a:cs typeface="Calibri" pitchFamily="34" charset="-120"/>
            </a:endParaRPr>
          </a:p>
          <a:p>
            <a:r>
              <a:rPr lang="en-US" sz="1050" b="1" kern="0" spc="50" dirty="0">
                <a:solidFill>
                  <a:srgbClr val="00778B"/>
                </a:solidFill>
                <a:ea typeface="Calibri" pitchFamily="34" charset="-122"/>
                <a:cs typeface="Calibri" pitchFamily="34" charset="-120"/>
              </a:rPr>
              <a:t>ACTOR AND MOMENT</a:t>
            </a:r>
          </a:p>
          <a:p>
            <a:r>
              <a:rPr lang="en-US" sz="1050" dirty="0">
                <a:solidFill>
                  <a:srgbClr val="1A1A1A"/>
                </a:solidFill>
                <a:latin typeface="Calibri" pitchFamily="34" charset="0"/>
                <a:ea typeface="Calibri" pitchFamily="34" charset="-122"/>
                <a:cs typeface="Calibri" pitchFamily="34" charset="-120"/>
              </a:rPr>
              <a:t>The plant head and team reported that the machines are stopping unexpectedly during active production shifts.</a:t>
            </a:r>
            <a:endParaRPr lang="en-US" sz="1050" dirty="0"/>
          </a:p>
          <a:p>
            <a:pPr marL="0" indent="0">
              <a:buNone/>
            </a:pPr>
            <a:endParaRPr lang="en-US" sz="1150" dirty="0"/>
          </a:p>
        </p:txBody>
      </p:sp>
      <p:sp>
        <p:nvSpPr>
          <p:cNvPr id="11" name="Shape 9"/>
          <p:cNvSpPr/>
          <p:nvPr/>
        </p:nvSpPr>
        <p:spPr>
          <a:xfrm>
            <a:off x="6217920" y="1920240"/>
            <a:ext cx="5394960" cy="1280160"/>
          </a:xfrm>
          <a:prstGeom prst="rect">
            <a:avLst/>
          </a:prstGeom>
          <a:solidFill>
            <a:srgbClr val="F2F8F8"/>
          </a:solidFill>
          <a:ln/>
        </p:spPr>
        <p:txBody>
          <a:bodyPr/>
          <a:lstStyle/>
          <a:p>
            <a:endParaRPr lang="en-IN"/>
          </a:p>
        </p:txBody>
      </p:sp>
      <p:sp>
        <p:nvSpPr>
          <p:cNvPr id="12" name="Shape 10"/>
          <p:cNvSpPr/>
          <p:nvPr/>
        </p:nvSpPr>
        <p:spPr>
          <a:xfrm>
            <a:off x="6217920" y="1920240"/>
            <a:ext cx="54864" cy="1280160"/>
          </a:xfrm>
          <a:prstGeom prst="rect">
            <a:avLst/>
          </a:prstGeom>
          <a:solidFill>
            <a:srgbClr val="00778B"/>
          </a:solidFill>
          <a:ln/>
        </p:spPr>
        <p:txBody>
          <a:bodyPr/>
          <a:lstStyle/>
          <a:p>
            <a:endParaRPr lang="en-IN"/>
          </a:p>
        </p:txBody>
      </p:sp>
      <p:sp>
        <p:nvSpPr>
          <p:cNvPr id="13" name="Text 11"/>
          <p:cNvSpPr txBox="1"/>
          <p:nvPr/>
        </p:nvSpPr>
        <p:spPr>
          <a:xfrm>
            <a:off x="6473825" y="2029968"/>
            <a:ext cx="4937760" cy="274320"/>
          </a:xfrm>
          <a:prstGeom prst="rect">
            <a:avLst/>
          </a:prstGeom>
          <a:noFill/>
          <a:ln/>
        </p:spPr>
        <p:txBody>
          <a:bodyPr wrap="square" lIns="0" tIns="0" rIns="0" bIns="0" rtlCol="0" anchor="ctr"/>
          <a:lstStyle/>
          <a:p>
            <a:r>
              <a:rPr lang="en-US" sz="1050" b="1" kern="0" spc="50" dirty="0">
                <a:solidFill>
                  <a:srgbClr val="00778B"/>
                </a:solidFill>
                <a:latin typeface="Calibri" pitchFamily="34" charset="0"/>
                <a:ea typeface="Calibri" pitchFamily="34" charset="-122"/>
                <a:cs typeface="Calibri" pitchFamily="34" charset="-120"/>
              </a:rPr>
              <a:t>ASSUMPTIONS</a:t>
            </a:r>
            <a:endParaRPr lang="en-US" sz="1050" dirty="0"/>
          </a:p>
        </p:txBody>
      </p:sp>
      <p:sp>
        <p:nvSpPr>
          <p:cNvPr id="14" name="Text 12"/>
          <p:cNvSpPr txBox="1"/>
          <p:nvPr/>
        </p:nvSpPr>
        <p:spPr>
          <a:xfrm>
            <a:off x="6446520" y="2304288"/>
            <a:ext cx="4937760" cy="822960"/>
          </a:xfrm>
          <a:prstGeom prst="rect">
            <a:avLst/>
          </a:prstGeom>
          <a:noFill/>
          <a:ln/>
        </p:spPr>
        <p:txBody>
          <a:bodyPr wrap="square" lIns="0" tIns="0" rIns="0" bIns="0" rtlCol="0" anchor="t"/>
          <a:lstStyle/>
          <a:p>
            <a:r>
              <a:rPr lang="en-US" sz="1050" dirty="0">
                <a:solidFill>
                  <a:srgbClr val="1A1A1A"/>
                </a:solidFill>
                <a:latin typeface="Calibri" pitchFamily="34" charset="0"/>
                <a:ea typeface="Calibri" pitchFamily="34" charset="-122"/>
                <a:cs typeface="Calibri" pitchFamily="34" charset="-120"/>
              </a:rPr>
              <a:t>Dashboards are reliable; ~20% of legacy machines lack telemetry; client will share OEM scorecard data</a:t>
            </a:r>
            <a:endParaRPr lang="en-US" sz="1050" dirty="0"/>
          </a:p>
        </p:txBody>
      </p:sp>
      <p:sp>
        <p:nvSpPr>
          <p:cNvPr id="15" name="Shape 13"/>
          <p:cNvSpPr/>
          <p:nvPr/>
        </p:nvSpPr>
        <p:spPr>
          <a:xfrm>
            <a:off x="548640" y="3337560"/>
            <a:ext cx="5394960" cy="1280160"/>
          </a:xfrm>
          <a:prstGeom prst="rect">
            <a:avLst/>
          </a:prstGeom>
          <a:solidFill>
            <a:srgbClr val="F2F8F8"/>
          </a:solidFill>
          <a:ln/>
        </p:spPr>
        <p:txBody>
          <a:bodyPr/>
          <a:lstStyle/>
          <a:p>
            <a:endParaRPr lang="en-IN"/>
          </a:p>
        </p:txBody>
      </p:sp>
      <p:sp>
        <p:nvSpPr>
          <p:cNvPr id="16" name="Shape 14"/>
          <p:cNvSpPr/>
          <p:nvPr/>
        </p:nvSpPr>
        <p:spPr>
          <a:xfrm>
            <a:off x="548640" y="3337560"/>
            <a:ext cx="54864" cy="1280160"/>
          </a:xfrm>
          <a:prstGeom prst="rect">
            <a:avLst/>
          </a:prstGeom>
          <a:solidFill>
            <a:srgbClr val="00778B"/>
          </a:solidFill>
          <a:ln/>
        </p:spPr>
        <p:txBody>
          <a:bodyPr/>
          <a:lstStyle/>
          <a:p>
            <a:endParaRPr lang="en-IN"/>
          </a:p>
        </p:txBody>
      </p:sp>
      <p:sp>
        <p:nvSpPr>
          <p:cNvPr id="17" name="Text 15"/>
          <p:cNvSpPr txBox="1"/>
          <p:nvPr/>
        </p:nvSpPr>
        <p:spPr>
          <a:xfrm>
            <a:off x="777240" y="3447288"/>
            <a:ext cx="4937760" cy="274320"/>
          </a:xfrm>
          <a:prstGeom prst="rect">
            <a:avLst/>
          </a:prstGeom>
          <a:noFill/>
          <a:ln/>
        </p:spPr>
        <p:txBody>
          <a:bodyPr wrap="square" lIns="0" tIns="0" rIns="0" bIns="0" rtlCol="0" anchor="ctr"/>
          <a:lstStyle/>
          <a:p>
            <a:pPr marL="0" indent="0">
              <a:buNone/>
            </a:pPr>
            <a:r>
              <a:rPr lang="en-US" sz="1050" b="1" kern="0" spc="50" dirty="0">
                <a:solidFill>
                  <a:srgbClr val="00778B"/>
                </a:solidFill>
                <a:latin typeface="Calibri" pitchFamily="34" charset="0"/>
                <a:ea typeface="Calibri" pitchFamily="34" charset="-122"/>
                <a:cs typeface="Calibri" pitchFamily="34" charset="-120"/>
              </a:rPr>
              <a:t>CURRENT STATE</a:t>
            </a:r>
          </a:p>
        </p:txBody>
      </p:sp>
      <p:sp>
        <p:nvSpPr>
          <p:cNvPr id="18" name="Text 16"/>
          <p:cNvSpPr txBox="1"/>
          <p:nvPr/>
        </p:nvSpPr>
        <p:spPr>
          <a:xfrm>
            <a:off x="777240" y="3721608"/>
            <a:ext cx="4937760" cy="822960"/>
          </a:xfrm>
          <a:prstGeom prst="rect">
            <a:avLst/>
          </a:prstGeom>
          <a:noFill/>
          <a:ln/>
        </p:spPr>
        <p:txBody>
          <a:bodyPr wrap="square" lIns="0" tIns="0" rIns="0" bIns="0" rtlCol="0" anchor="t"/>
          <a:lstStyle/>
          <a:p>
            <a:pPr marL="0" indent="0">
              <a:buNone/>
            </a:pPr>
            <a:r>
              <a:rPr lang="en-US" sz="1150" dirty="0">
                <a:solidFill>
                  <a:srgbClr val="1A1A1A"/>
                </a:solidFill>
                <a:latin typeface="Calibri" pitchFamily="34" charset="0"/>
                <a:ea typeface="Calibri" pitchFamily="34" charset="-122"/>
                <a:cs typeface="Calibri" pitchFamily="34" charset="-120"/>
              </a:rPr>
              <a:t>Third-party annual </a:t>
            </a:r>
            <a:r>
              <a:rPr lang="en-US" sz="1050" dirty="0">
                <a:solidFill>
                  <a:srgbClr val="1A1A1A"/>
                </a:solidFill>
                <a:latin typeface="Calibri" pitchFamily="34" charset="0"/>
                <a:ea typeface="Calibri" pitchFamily="34" charset="-122"/>
                <a:cs typeface="Calibri" pitchFamily="34" charset="-120"/>
              </a:rPr>
              <a:t>contract, checklist-based </a:t>
            </a:r>
            <a:r>
              <a:rPr lang="en-US" sz="1150" dirty="0">
                <a:solidFill>
                  <a:srgbClr val="1A1A1A"/>
                </a:solidFill>
                <a:latin typeface="Calibri" pitchFamily="34" charset="0"/>
                <a:ea typeface="Calibri" pitchFamily="34" charset="-122"/>
                <a:cs typeface="Calibri" pitchFamily="34" charset="-120"/>
              </a:rPr>
              <a:t>servicing , last service ~6 months ago</a:t>
            </a:r>
          </a:p>
          <a:p>
            <a:r>
              <a:rPr lang="en-US" sz="1050" b="1" kern="0" spc="50" dirty="0">
                <a:solidFill>
                  <a:srgbClr val="00778B"/>
                </a:solidFill>
                <a:latin typeface="Calibri" pitchFamily="34" charset="0"/>
                <a:ea typeface="Calibri" pitchFamily="34" charset="-122"/>
                <a:cs typeface="Calibri" pitchFamily="34" charset="-120"/>
              </a:rPr>
              <a:t>METRIC</a:t>
            </a:r>
          </a:p>
          <a:p>
            <a:r>
              <a:rPr lang="en-US" sz="1050" dirty="0">
                <a:solidFill>
                  <a:srgbClr val="1A1A1A"/>
                </a:solidFill>
                <a:ea typeface="Calibri" pitchFamily="34" charset="-122"/>
                <a:cs typeface="Calibri" pitchFamily="34" charset="-120"/>
              </a:rPr>
              <a:t>Baseline ~$10M</a:t>
            </a:r>
          </a:p>
          <a:p>
            <a:r>
              <a:rPr lang="en-US" sz="1050" dirty="0">
                <a:solidFill>
                  <a:srgbClr val="1A1A1A"/>
                </a:solidFill>
                <a:ea typeface="Calibri" pitchFamily="34" charset="-122"/>
                <a:cs typeface="Calibri" pitchFamily="34" charset="-120"/>
              </a:rPr>
              <a:t>Impact → working target ~$5M</a:t>
            </a:r>
            <a:endParaRPr lang="en-US" sz="1050" dirty="0"/>
          </a:p>
          <a:p>
            <a:endParaRPr lang="en-US" sz="1200" dirty="0"/>
          </a:p>
          <a:p>
            <a:pPr marL="0" indent="0">
              <a:buNone/>
            </a:pPr>
            <a:endParaRPr lang="en-US" sz="1150" dirty="0"/>
          </a:p>
        </p:txBody>
      </p:sp>
      <p:sp>
        <p:nvSpPr>
          <p:cNvPr id="19" name="Shape 17"/>
          <p:cNvSpPr/>
          <p:nvPr/>
        </p:nvSpPr>
        <p:spPr>
          <a:xfrm>
            <a:off x="6217920" y="3337560"/>
            <a:ext cx="5394960" cy="1280160"/>
          </a:xfrm>
          <a:prstGeom prst="rect">
            <a:avLst/>
          </a:prstGeom>
          <a:solidFill>
            <a:srgbClr val="F2F8F8"/>
          </a:solidFill>
          <a:ln/>
        </p:spPr>
        <p:txBody>
          <a:bodyPr/>
          <a:lstStyle/>
          <a:p>
            <a:endParaRPr lang="en-IN"/>
          </a:p>
        </p:txBody>
      </p:sp>
      <p:sp>
        <p:nvSpPr>
          <p:cNvPr id="20" name="Shape 18"/>
          <p:cNvSpPr/>
          <p:nvPr/>
        </p:nvSpPr>
        <p:spPr>
          <a:xfrm>
            <a:off x="6217920" y="3337560"/>
            <a:ext cx="54864" cy="1280160"/>
          </a:xfrm>
          <a:prstGeom prst="rect">
            <a:avLst/>
          </a:prstGeom>
          <a:solidFill>
            <a:srgbClr val="00778B"/>
          </a:solidFill>
          <a:ln/>
        </p:spPr>
        <p:txBody>
          <a:bodyPr/>
          <a:lstStyle/>
          <a:p>
            <a:endParaRPr lang="en-IN"/>
          </a:p>
        </p:txBody>
      </p:sp>
      <p:sp>
        <p:nvSpPr>
          <p:cNvPr id="21" name="Text 19"/>
          <p:cNvSpPr txBox="1"/>
          <p:nvPr/>
        </p:nvSpPr>
        <p:spPr>
          <a:xfrm>
            <a:off x="6428232" y="3429000"/>
            <a:ext cx="4937760" cy="274320"/>
          </a:xfrm>
          <a:prstGeom prst="rect">
            <a:avLst/>
          </a:prstGeom>
          <a:noFill/>
          <a:ln/>
        </p:spPr>
        <p:txBody>
          <a:bodyPr wrap="square" lIns="0" tIns="0" rIns="0" bIns="0" rtlCol="0" anchor="ctr"/>
          <a:lstStyle/>
          <a:p>
            <a:r>
              <a:rPr lang="en-US" sz="1050" b="1" kern="0" spc="50" dirty="0">
                <a:solidFill>
                  <a:srgbClr val="00778B"/>
                </a:solidFill>
                <a:latin typeface="Calibri" pitchFamily="34" charset="0"/>
                <a:ea typeface="Calibri" pitchFamily="34" charset="-122"/>
                <a:cs typeface="Calibri" pitchFamily="34" charset="-120"/>
              </a:rPr>
              <a:t>THIN SLICE</a:t>
            </a:r>
            <a:endParaRPr lang="en-US" sz="1050" dirty="0"/>
          </a:p>
        </p:txBody>
      </p:sp>
      <p:sp>
        <p:nvSpPr>
          <p:cNvPr id="22" name="Text 20"/>
          <p:cNvSpPr txBox="1"/>
          <p:nvPr/>
        </p:nvSpPr>
        <p:spPr>
          <a:xfrm>
            <a:off x="6446520" y="3721608"/>
            <a:ext cx="4937760" cy="850392"/>
          </a:xfrm>
          <a:prstGeom prst="rect">
            <a:avLst/>
          </a:prstGeom>
          <a:noFill/>
          <a:ln/>
        </p:spPr>
        <p:txBody>
          <a:bodyPr wrap="square" lIns="0" tIns="0" rIns="0" bIns="0" rtlCol="0" anchor="t"/>
          <a:lstStyle/>
          <a:p>
            <a:r>
              <a:rPr lang="en-US" sz="1050" dirty="0"/>
              <a:t>A</a:t>
            </a:r>
            <a:r>
              <a:rPr lang="en-IN" sz="1050" dirty="0"/>
              <a:t> deterministic data ingestion, normalization and correlation pipeline for a set of critical machines , to test the pre-breakdown patterns</a:t>
            </a:r>
          </a:p>
          <a:p>
            <a:endParaRPr lang="en-US" sz="1150" dirty="0"/>
          </a:p>
        </p:txBody>
      </p:sp>
      <p:sp>
        <p:nvSpPr>
          <p:cNvPr id="23" name="Shape 21"/>
          <p:cNvSpPr/>
          <p:nvPr/>
        </p:nvSpPr>
        <p:spPr>
          <a:xfrm>
            <a:off x="548640" y="4754880"/>
            <a:ext cx="5394960" cy="1280160"/>
          </a:xfrm>
          <a:prstGeom prst="rect">
            <a:avLst/>
          </a:prstGeom>
          <a:solidFill>
            <a:srgbClr val="F2F8F8"/>
          </a:solidFill>
          <a:ln/>
        </p:spPr>
        <p:txBody>
          <a:bodyPr/>
          <a:lstStyle/>
          <a:p>
            <a:endParaRPr lang="en-IN"/>
          </a:p>
        </p:txBody>
      </p:sp>
      <p:sp>
        <p:nvSpPr>
          <p:cNvPr id="24" name="Shape 22"/>
          <p:cNvSpPr/>
          <p:nvPr/>
        </p:nvSpPr>
        <p:spPr>
          <a:xfrm>
            <a:off x="548640" y="4754880"/>
            <a:ext cx="54864" cy="1280160"/>
          </a:xfrm>
          <a:prstGeom prst="rect">
            <a:avLst/>
          </a:prstGeom>
          <a:solidFill>
            <a:srgbClr val="00778B"/>
          </a:solidFill>
          <a:ln/>
        </p:spPr>
        <p:txBody>
          <a:bodyPr/>
          <a:lstStyle/>
          <a:p>
            <a:endParaRPr lang="en-IN"/>
          </a:p>
        </p:txBody>
      </p:sp>
      <p:sp>
        <p:nvSpPr>
          <p:cNvPr id="25" name="Text 23"/>
          <p:cNvSpPr txBox="1"/>
          <p:nvPr/>
        </p:nvSpPr>
        <p:spPr>
          <a:xfrm>
            <a:off x="777240" y="4864608"/>
            <a:ext cx="4937760" cy="274320"/>
          </a:xfrm>
          <a:prstGeom prst="rect">
            <a:avLst/>
          </a:prstGeom>
          <a:noFill/>
          <a:ln/>
        </p:spPr>
        <p:txBody>
          <a:bodyPr wrap="square" lIns="0" tIns="0" rIns="0" bIns="0" rtlCol="0" anchor="ctr"/>
          <a:lstStyle/>
          <a:p>
            <a:r>
              <a:rPr lang="en-US" sz="1050" b="1" kern="0" spc="50" dirty="0">
                <a:solidFill>
                  <a:srgbClr val="00778B"/>
                </a:solidFill>
                <a:latin typeface="Calibri" pitchFamily="34" charset="0"/>
                <a:ea typeface="Calibri" pitchFamily="34" charset="-122"/>
                <a:cs typeface="Calibri" pitchFamily="34" charset="-120"/>
              </a:rPr>
              <a:t>CONSTRAINTS</a:t>
            </a:r>
            <a:endParaRPr lang="en-US" sz="1050" dirty="0"/>
          </a:p>
        </p:txBody>
      </p:sp>
      <p:sp>
        <p:nvSpPr>
          <p:cNvPr id="26" name="Text 24"/>
          <p:cNvSpPr txBox="1"/>
          <p:nvPr/>
        </p:nvSpPr>
        <p:spPr>
          <a:xfrm>
            <a:off x="777240" y="5138928"/>
            <a:ext cx="4937760" cy="822960"/>
          </a:xfrm>
          <a:prstGeom prst="rect">
            <a:avLst/>
          </a:prstGeom>
          <a:noFill/>
          <a:ln/>
        </p:spPr>
        <p:txBody>
          <a:bodyPr wrap="square" lIns="0" tIns="0" rIns="0" bIns="0" rtlCol="0" anchor="t"/>
          <a:lstStyle/>
          <a:p>
            <a:r>
              <a:rPr lang="en-US" sz="1050" dirty="0">
                <a:solidFill>
                  <a:srgbClr val="1A1A1A"/>
                </a:solidFill>
                <a:ea typeface="Calibri" pitchFamily="34" charset="-122"/>
                <a:cs typeface="Calibri" pitchFamily="34" charset="-120"/>
              </a:rPr>
              <a:t>3 data formats (CSV, JSON, unstructured text), CNC + injection </a:t>
            </a:r>
            <a:r>
              <a:rPr lang="en-US" sz="1050" dirty="0" err="1">
                <a:solidFill>
                  <a:srgbClr val="1A1A1A"/>
                </a:solidFill>
                <a:ea typeface="Calibri" pitchFamily="34" charset="-122"/>
                <a:cs typeface="Calibri" pitchFamily="34" charset="-120"/>
              </a:rPr>
              <a:t>moulding</a:t>
            </a:r>
            <a:r>
              <a:rPr lang="en-US" sz="1050" dirty="0">
                <a:solidFill>
                  <a:srgbClr val="1A1A1A"/>
                </a:solidFill>
                <a:ea typeface="Calibri" pitchFamily="34" charset="-122"/>
                <a:cs typeface="Calibri" pitchFamily="34" charset="-120"/>
              </a:rPr>
              <a:t>, air-gapped network, quarter deadline</a:t>
            </a:r>
            <a:endParaRPr lang="en-US" sz="1050" dirty="0"/>
          </a:p>
          <a:p>
            <a:pPr marL="0" indent="0">
              <a:buNone/>
            </a:pPr>
            <a:endParaRPr lang="en-US" sz="1150" dirty="0"/>
          </a:p>
        </p:txBody>
      </p:sp>
      <p:sp>
        <p:nvSpPr>
          <p:cNvPr id="27" name="Shape 25"/>
          <p:cNvSpPr/>
          <p:nvPr/>
        </p:nvSpPr>
        <p:spPr>
          <a:xfrm>
            <a:off x="6217920" y="4754880"/>
            <a:ext cx="5394960" cy="1280160"/>
          </a:xfrm>
          <a:prstGeom prst="rect">
            <a:avLst/>
          </a:prstGeom>
          <a:solidFill>
            <a:srgbClr val="F2F8F8"/>
          </a:solidFill>
          <a:ln/>
        </p:spPr>
        <p:txBody>
          <a:bodyPr/>
          <a:lstStyle/>
          <a:p>
            <a:endParaRPr lang="en-IN" dirty="0"/>
          </a:p>
        </p:txBody>
      </p:sp>
      <p:sp>
        <p:nvSpPr>
          <p:cNvPr id="28" name="Shape 26"/>
          <p:cNvSpPr/>
          <p:nvPr/>
        </p:nvSpPr>
        <p:spPr>
          <a:xfrm>
            <a:off x="6217920" y="4754880"/>
            <a:ext cx="54864" cy="1280160"/>
          </a:xfrm>
          <a:prstGeom prst="rect">
            <a:avLst/>
          </a:prstGeom>
          <a:solidFill>
            <a:srgbClr val="12B28F"/>
          </a:solidFill>
          <a:ln/>
        </p:spPr>
        <p:txBody>
          <a:bodyPr/>
          <a:lstStyle/>
          <a:p>
            <a:endParaRPr lang="en-IN"/>
          </a:p>
        </p:txBody>
      </p:sp>
      <p:sp>
        <p:nvSpPr>
          <p:cNvPr id="29" name="Text 27"/>
          <p:cNvSpPr txBox="1"/>
          <p:nvPr/>
        </p:nvSpPr>
        <p:spPr>
          <a:xfrm>
            <a:off x="6446520" y="4864608"/>
            <a:ext cx="4937760" cy="274320"/>
          </a:xfrm>
          <a:prstGeom prst="rect">
            <a:avLst/>
          </a:prstGeom>
          <a:noFill/>
          <a:ln/>
        </p:spPr>
        <p:txBody>
          <a:bodyPr wrap="square" lIns="0" tIns="0" rIns="0" bIns="0" rtlCol="0" anchor="ctr"/>
          <a:lstStyle/>
          <a:p>
            <a:pPr marL="0" indent="0">
              <a:buNone/>
            </a:pPr>
            <a:endParaRPr lang="en-US" sz="1050" dirty="0"/>
          </a:p>
        </p:txBody>
      </p:sp>
      <p:sp>
        <p:nvSpPr>
          <p:cNvPr id="30" name="Text 28"/>
          <p:cNvSpPr txBox="1"/>
          <p:nvPr/>
        </p:nvSpPr>
        <p:spPr>
          <a:xfrm>
            <a:off x="6428232" y="4956048"/>
            <a:ext cx="4937760" cy="1005840"/>
          </a:xfrm>
          <a:prstGeom prst="rect">
            <a:avLst/>
          </a:prstGeom>
          <a:noFill/>
          <a:ln/>
        </p:spPr>
        <p:txBody>
          <a:bodyPr wrap="square" lIns="0" tIns="0" rIns="0" bIns="0" rtlCol="0" anchor="t"/>
          <a:lstStyle/>
          <a:p>
            <a:r>
              <a:rPr lang="en-US" sz="1050" b="1" kern="0" spc="50" dirty="0">
                <a:solidFill>
                  <a:srgbClr val="00778B"/>
                </a:solidFill>
                <a:latin typeface="Calibri" pitchFamily="34" charset="0"/>
                <a:ea typeface="Calibri" pitchFamily="34" charset="-122"/>
                <a:cs typeface="Calibri" pitchFamily="34" charset="-120"/>
              </a:rPr>
              <a:t>SUCCESS AND SIGN-OFF</a:t>
            </a:r>
          </a:p>
          <a:p>
            <a:r>
              <a:rPr lang="en-IN" sz="1050" dirty="0"/>
              <a:t>Correlation between identified telemetry and failure records, lowering the business impact, kill criteria - Issues in the collected data. </a:t>
            </a:r>
          </a:p>
          <a:p>
            <a:r>
              <a:rPr lang="en-US" sz="1050" b="1" kern="0" spc="50" dirty="0">
                <a:solidFill>
                  <a:srgbClr val="00778B"/>
                </a:solidFill>
                <a:ea typeface="Calibri" pitchFamily="34" charset="-122"/>
                <a:cs typeface="Calibri" pitchFamily="34" charset="-120"/>
              </a:rPr>
              <a:t>OPEN QUESTIONS </a:t>
            </a:r>
            <a:endParaRPr lang="en-US" sz="1050" dirty="0"/>
          </a:p>
          <a:p>
            <a:r>
              <a:rPr lang="en-US" sz="1050" dirty="0">
                <a:solidFill>
                  <a:srgbClr val="1A1A1A"/>
                </a:solidFill>
                <a:latin typeface="Calibri" pitchFamily="34" charset="0"/>
                <a:ea typeface="Calibri" pitchFamily="34" charset="-122"/>
                <a:cs typeface="Calibri" pitchFamily="34" charset="-120"/>
              </a:rPr>
              <a:t>Machine hardware failure</a:t>
            </a:r>
          </a:p>
          <a:p>
            <a:endParaRPr lang="en-US" sz="1150" dirty="0"/>
          </a:p>
          <a:p>
            <a:endParaRPr lang="en-US" sz="1150" b="1" kern="0" spc="50" dirty="0">
              <a:solidFill>
                <a:srgbClr val="00778B"/>
              </a:solidFill>
              <a:latin typeface="Calibri" pitchFamily="34" charset="0"/>
              <a:ea typeface="Calibri" pitchFamily="34" charset="-122"/>
              <a:cs typeface="Calibri" pitchFamily="34" charset="-120"/>
            </a:endParaRPr>
          </a:p>
          <a:p>
            <a:pPr marL="0" indent="0">
              <a:buNone/>
            </a:pPr>
            <a:endParaRPr lang="en-US" sz="1150" dirty="0">
              <a:solidFill>
                <a:srgbClr val="1A1A1A"/>
              </a:solidFill>
              <a:latin typeface="Calibri" pitchFamily="34" charset="0"/>
              <a:ea typeface="Calibri" pitchFamily="34" charset="-122"/>
              <a:cs typeface="Calibri"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DISCOVER → DESIGN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Our thin slice</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Testing the riskiest assumption first, on a small scope</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05</a:t>
            </a:r>
            <a:endParaRPr lang="en-US" sz="900" dirty="0"/>
          </a:p>
        </p:txBody>
      </p:sp>
      <p:sp>
        <p:nvSpPr>
          <p:cNvPr id="7" name="Text 5"/>
          <p:cNvSpPr txBox="1"/>
          <p:nvPr/>
        </p:nvSpPr>
        <p:spPr>
          <a:xfrm>
            <a:off x="548640" y="1783080"/>
            <a:ext cx="10149840" cy="914400"/>
          </a:xfrm>
          <a:prstGeom prst="rect">
            <a:avLst/>
          </a:prstGeom>
          <a:noFill/>
          <a:ln/>
        </p:spPr>
        <p:txBody>
          <a:bodyPr wrap="square" lIns="0" tIns="0" rIns="0" bIns="0" rtlCol="0" anchor="t"/>
          <a:lstStyle/>
          <a:p>
            <a:pPr marL="0" indent="0">
              <a:lnSpc>
                <a:spcPts val="2200"/>
              </a:lnSpc>
              <a:buNone/>
            </a:pPr>
            <a:r>
              <a:rPr lang="en-US" sz="1600" dirty="0">
                <a:solidFill>
                  <a:srgbClr val="1A1A1A"/>
                </a:solidFill>
                <a:latin typeface="Calibri" pitchFamily="34" charset="0"/>
                <a:ea typeface="Calibri" pitchFamily="34" charset="-122"/>
                <a:cs typeface="Calibri" pitchFamily="34" charset="-120"/>
              </a:rPr>
              <a:t>Analyze maintenance records together with available telemetry and dashboard metrics for a small set of critical machines – to test whether the data actually contains signals that appear before a stoppage.</a:t>
            </a:r>
            <a:endParaRPr lang="en-US" sz="1600" dirty="0"/>
          </a:p>
        </p:txBody>
      </p:sp>
      <p:sp>
        <p:nvSpPr>
          <p:cNvPr id="8" name="Text 6"/>
          <p:cNvSpPr txBox="1"/>
          <p:nvPr/>
        </p:nvSpPr>
        <p:spPr>
          <a:xfrm>
            <a:off x="548640" y="2834640"/>
            <a:ext cx="5349240" cy="365760"/>
          </a:xfrm>
          <a:prstGeom prst="rect">
            <a:avLst/>
          </a:prstGeom>
          <a:noFill/>
          <a:ln/>
        </p:spPr>
        <p:txBody>
          <a:bodyPr wrap="square" lIns="0" tIns="0" rIns="0" bIns="0" rtlCol="0" anchor="ctr"/>
          <a:lstStyle/>
          <a:p>
            <a:pPr marL="0" indent="0">
              <a:buNone/>
            </a:pPr>
            <a:r>
              <a:rPr lang="en-US" sz="1500" b="1" dirty="0">
                <a:solidFill>
                  <a:srgbClr val="003C51"/>
                </a:solidFill>
                <a:latin typeface="Calibri" pitchFamily="34" charset="0"/>
                <a:ea typeface="Calibri" pitchFamily="34" charset="-122"/>
                <a:cs typeface="Calibri" pitchFamily="34" charset="-120"/>
              </a:rPr>
              <a:t>In scope for this slice</a:t>
            </a:r>
            <a:endParaRPr lang="en-US" sz="1500" dirty="0"/>
          </a:p>
        </p:txBody>
      </p:sp>
      <p:sp>
        <p:nvSpPr>
          <p:cNvPr id="9" name="Shape 7"/>
          <p:cNvSpPr/>
          <p:nvPr/>
        </p:nvSpPr>
        <p:spPr>
          <a:xfrm>
            <a:off x="548640" y="3392424"/>
            <a:ext cx="128016" cy="128016"/>
          </a:xfrm>
          <a:prstGeom prst="ellipse">
            <a:avLst/>
          </a:prstGeom>
          <a:solidFill>
            <a:srgbClr val="12B28F"/>
          </a:solidFill>
          <a:ln/>
        </p:spPr>
        <p:txBody>
          <a:bodyPr/>
          <a:lstStyle/>
          <a:p>
            <a:endParaRPr lang="en-IN"/>
          </a:p>
        </p:txBody>
      </p:sp>
      <p:sp>
        <p:nvSpPr>
          <p:cNvPr id="10" name="Text 8"/>
          <p:cNvSpPr txBox="1"/>
          <p:nvPr/>
        </p:nvSpPr>
        <p:spPr>
          <a:xfrm>
            <a:off x="822960" y="3282696"/>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Ingest CSV, JSON and free-text logs from multiple machine vendors</a:t>
            </a:r>
            <a:endParaRPr lang="en-US" sz="1250" dirty="0"/>
          </a:p>
        </p:txBody>
      </p:sp>
      <p:sp>
        <p:nvSpPr>
          <p:cNvPr id="11" name="Shape 9"/>
          <p:cNvSpPr/>
          <p:nvPr/>
        </p:nvSpPr>
        <p:spPr>
          <a:xfrm>
            <a:off x="548640" y="3959352"/>
            <a:ext cx="128016" cy="128016"/>
          </a:xfrm>
          <a:prstGeom prst="ellipse">
            <a:avLst/>
          </a:prstGeom>
          <a:solidFill>
            <a:srgbClr val="12B28F"/>
          </a:solidFill>
          <a:ln/>
        </p:spPr>
        <p:txBody>
          <a:bodyPr/>
          <a:lstStyle/>
          <a:p>
            <a:endParaRPr lang="en-IN"/>
          </a:p>
        </p:txBody>
      </p:sp>
      <p:sp>
        <p:nvSpPr>
          <p:cNvPr id="12" name="Text 10"/>
          <p:cNvSpPr txBox="1"/>
          <p:nvPr/>
        </p:nvSpPr>
        <p:spPr>
          <a:xfrm>
            <a:off x="822960" y="3849624"/>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Normalize vendor-specific fields into one common schema</a:t>
            </a:r>
            <a:endParaRPr lang="en-US" sz="1250" dirty="0"/>
          </a:p>
        </p:txBody>
      </p:sp>
      <p:sp>
        <p:nvSpPr>
          <p:cNvPr id="13" name="Shape 11"/>
          <p:cNvSpPr/>
          <p:nvPr/>
        </p:nvSpPr>
        <p:spPr>
          <a:xfrm>
            <a:off x="548640" y="4526280"/>
            <a:ext cx="128016" cy="128016"/>
          </a:xfrm>
          <a:prstGeom prst="ellipse">
            <a:avLst/>
          </a:prstGeom>
          <a:solidFill>
            <a:srgbClr val="12B28F"/>
          </a:solidFill>
          <a:ln/>
        </p:spPr>
        <p:txBody>
          <a:bodyPr/>
          <a:lstStyle/>
          <a:p>
            <a:endParaRPr lang="en-IN"/>
          </a:p>
        </p:txBody>
      </p:sp>
      <p:sp>
        <p:nvSpPr>
          <p:cNvPr id="14" name="Text 12"/>
          <p:cNvSpPr txBox="1"/>
          <p:nvPr/>
        </p:nvSpPr>
        <p:spPr>
          <a:xfrm>
            <a:off x="822960" y="4416552"/>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Deterministic anomaly detection – no ML, no external AI</a:t>
            </a:r>
            <a:endParaRPr lang="en-US" sz="1250" dirty="0"/>
          </a:p>
        </p:txBody>
      </p:sp>
      <p:sp>
        <p:nvSpPr>
          <p:cNvPr id="15" name="Shape 13"/>
          <p:cNvSpPr/>
          <p:nvPr/>
        </p:nvSpPr>
        <p:spPr>
          <a:xfrm>
            <a:off x="548640" y="5093208"/>
            <a:ext cx="128016" cy="128016"/>
          </a:xfrm>
          <a:prstGeom prst="ellipse">
            <a:avLst/>
          </a:prstGeom>
          <a:solidFill>
            <a:srgbClr val="12B28F"/>
          </a:solidFill>
          <a:ln/>
        </p:spPr>
        <p:txBody>
          <a:bodyPr/>
          <a:lstStyle/>
          <a:p>
            <a:endParaRPr lang="en-IN"/>
          </a:p>
        </p:txBody>
      </p:sp>
      <p:sp>
        <p:nvSpPr>
          <p:cNvPr id="16" name="Text 14"/>
          <p:cNvSpPr txBox="1"/>
          <p:nvPr/>
        </p:nvSpPr>
        <p:spPr>
          <a:xfrm>
            <a:off x="822960" y="4983480"/>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Evidence-based report: candidate signals, not claimed causes</a:t>
            </a:r>
            <a:endParaRPr lang="en-US" sz="1250" dirty="0"/>
          </a:p>
        </p:txBody>
      </p:sp>
      <p:sp>
        <p:nvSpPr>
          <p:cNvPr id="17" name="Text 15"/>
          <p:cNvSpPr txBox="1"/>
          <p:nvPr/>
        </p:nvSpPr>
        <p:spPr>
          <a:xfrm>
            <a:off x="6263640" y="2834640"/>
            <a:ext cx="5349240" cy="365760"/>
          </a:xfrm>
          <a:prstGeom prst="rect">
            <a:avLst/>
          </a:prstGeom>
          <a:noFill/>
          <a:ln/>
        </p:spPr>
        <p:txBody>
          <a:bodyPr wrap="square" lIns="0" tIns="0" rIns="0" bIns="0" rtlCol="0" anchor="ctr"/>
          <a:lstStyle/>
          <a:p>
            <a:pPr marL="0" indent="0">
              <a:buNone/>
            </a:pPr>
            <a:r>
              <a:rPr lang="en-US" sz="1500" b="1" dirty="0">
                <a:solidFill>
                  <a:srgbClr val="5A5A5A"/>
                </a:solidFill>
                <a:latin typeface="Calibri" pitchFamily="34" charset="0"/>
                <a:ea typeface="Calibri" pitchFamily="34" charset="-122"/>
                <a:cs typeface="Calibri" pitchFamily="34" charset="-120"/>
              </a:rPr>
              <a:t>Explicitly out of scope</a:t>
            </a:r>
            <a:endParaRPr lang="en-US" sz="1500" dirty="0"/>
          </a:p>
        </p:txBody>
      </p:sp>
      <p:sp>
        <p:nvSpPr>
          <p:cNvPr id="18" name="Shape 16"/>
          <p:cNvSpPr/>
          <p:nvPr/>
        </p:nvSpPr>
        <p:spPr>
          <a:xfrm>
            <a:off x="6263640" y="3392424"/>
            <a:ext cx="128016" cy="128016"/>
          </a:xfrm>
          <a:prstGeom prst="ellipse">
            <a:avLst/>
          </a:prstGeom>
          <a:solidFill>
            <a:srgbClr val="8D9AA1"/>
          </a:solidFill>
          <a:ln/>
        </p:spPr>
        <p:txBody>
          <a:bodyPr/>
          <a:lstStyle/>
          <a:p>
            <a:endParaRPr lang="en-IN"/>
          </a:p>
        </p:txBody>
      </p:sp>
      <p:sp>
        <p:nvSpPr>
          <p:cNvPr id="19" name="Text 17"/>
          <p:cNvSpPr txBox="1"/>
          <p:nvPr/>
        </p:nvSpPr>
        <p:spPr>
          <a:xfrm>
            <a:off x="6537960" y="3282696"/>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Full 60+ machine rollout across both plants</a:t>
            </a:r>
            <a:endParaRPr lang="en-US" sz="1250" dirty="0"/>
          </a:p>
        </p:txBody>
      </p:sp>
      <p:sp>
        <p:nvSpPr>
          <p:cNvPr id="20" name="Shape 18"/>
          <p:cNvSpPr/>
          <p:nvPr/>
        </p:nvSpPr>
        <p:spPr>
          <a:xfrm>
            <a:off x="6263640" y="3959352"/>
            <a:ext cx="128016" cy="128016"/>
          </a:xfrm>
          <a:prstGeom prst="ellipse">
            <a:avLst/>
          </a:prstGeom>
          <a:solidFill>
            <a:srgbClr val="8D9AA1"/>
          </a:solidFill>
          <a:ln/>
        </p:spPr>
        <p:txBody>
          <a:bodyPr/>
          <a:lstStyle/>
          <a:p>
            <a:endParaRPr lang="en-IN"/>
          </a:p>
        </p:txBody>
      </p:sp>
      <p:sp>
        <p:nvSpPr>
          <p:cNvPr id="21" name="Text 19"/>
          <p:cNvSpPr txBox="1"/>
          <p:nvPr/>
        </p:nvSpPr>
        <p:spPr>
          <a:xfrm>
            <a:off x="6537960" y="3849624"/>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Any ML model or LLM integration</a:t>
            </a:r>
            <a:endParaRPr lang="en-US" sz="1250" dirty="0"/>
          </a:p>
        </p:txBody>
      </p:sp>
      <p:sp>
        <p:nvSpPr>
          <p:cNvPr id="22" name="Shape 20"/>
          <p:cNvSpPr/>
          <p:nvPr/>
        </p:nvSpPr>
        <p:spPr>
          <a:xfrm>
            <a:off x="6263640" y="4526280"/>
            <a:ext cx="128016" cy="128016"/>
          </a:xfrm>
          <a:prstGeom prst="ellipse">
            <a:avLst/>
          </a:prstGeom>
          <a:solidFill>
            <a:srgbClr val="8D9AA1"/>
          </a:solidFill>
          <a:ln/>
        </p:spPr>
        <p:txBody>
          <a:bodyPr/>
          <a:lstStyle/>
          <a:p>
            <a:endParaRPr lang="en-IN"/>
          </a:p>
        </p:txBody>
      </p:sp>
      <p:sp>
        <p:nvSpPr>
          <p:cNvPr id="23" name="Text 21"/>
          <p:cNvSpPr txBox="1"/>
          <p:nvPr/>
        </p:nvSpPr>
        <p:spPr>
          <a:xfrm>
            <a:off x="6537960" y="4416552"/>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Automated machine control or PLC actions</a:t>
            </a:r>
            <a:endParaRPr lang="en-US" sz="1250" dirty="0"/>
          </a:p>
        </p:txBody>
      </p:sp>
      <p:sp>
        <p:nvSpPr>
          <p:cNvPr id="24" name="Shape 22"/>
          <p:cNvSpPr/>
          <p:nvPr/>
        </p:nvSpPr>
        <p:spPr>
          <a:xfrm>
            <a:off x="6263640" y="5093208"/>
            <a:ext cx="128016" cy="128016"/>
          </a:xfrm>
          <a:prstGeom prst="ellipse">
            <a:avLst/>
          </a:prstGeom>
          <a:solidFill>
            <a:srgbClr val="8D9AA1"/>
          </a:solidFill>
          <a:ln/>
        </p:spPr>
        <p:txBody>
          <a:bodyPr/>
          <a:lstStyle/>
          <a:p>
            <a:endParaRPr lang="en-IN"/>
          </a:p>
        </p:txBody>
      </p:sp>
      <p:sp>
        <p:nvSpPr>
          <p:cNvPr id="25" name="Text 23"/>
          <p:cNvSpPr txBox="1"/>
          <p:nvPr/>
        </p:nvSpPr>
        <p:spPr>
          <a:xfrm>
            <a:off x="6537960" y="4983480"/>
            <a:ext cx="5074920" cy="502920"/>
          </a:xfrm>
          <a:prstGeom prst="rect">
            <a:avLst/>
          </a:prstGeom>
          <a:noFill/>
          <a:ln/>
        </p:spPr>
        <p:txBody>
          <a:bodyPr wrap="square" lIns="0" tIns="0" rIns="0" bIns="0" rtlCol="0" anchor="t"/>
          <a:lstStyle/>
          <a:p>
            <a:pPr marL="0" indent="0">
              <a:buNone/>
            </a:pPr>
            <a:r>
              <a:rPr lang="en-US" sz="1250" dirty="0">
                <a:solidFill>
                  <a:srgbClr val="1A1A1A"/>
                </a:solidFill>
                <a:latin typeface="Calibri" pitchFamily="34" charset="0"/>
                <a:ea typeface="Calibri" pitchFamily="34" charset="-122"/>
                <a:cs typeface="Calibri" pitchFamily="34" charset="-120"/>
              </a:rPr>
              <a:t>Cloud infrastructure – the plant network is air-gapped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Solution architecture</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 deterministic workflow, not an autonomous agent – by design</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06</a:t>
            </a:r>
            <a:endParaRPr lang="en-US" sz="900" dirty="0"/>
          </a:p>
        </p:txBody>
      </p:sp>
      <p:sp>
        <p:nvSpPr>
          <p:cNvPr id="7" name="Shape 5"/>
          <p:cNvSpPr/>
          <p:nvPr/>
        </p:nvSpPr>
        <p:spPr>
          <a:xfrm>
            <a:off x="548640" y="2103120"/>
            <a:ext cx="1828800" cy="1188720"/>
          </a:xfrm>
          <a:prstGeom prst="rect">
            <a:avLst/>
          </a:prstGeom>
          <a:solidFill>
            <a:srgbClr val="F2F8F8"/>
          </a:solidFill>
          <a:ln/>
        </p:spPr>
        <p:txBody>
          <a:bodyPr/>
          <a:lstStyle/>
          <a:p>
            <a:endParaRPr lang="en-IN"/>
          </a:p>
        </p:txBody>
      </p:sp>
      <p:sp>
        <p:nvSpPr>
          <p:cNvPr id="8" name="Text 6"/>
          <p:cNvSpPr txBox="1"/>
          <p:nvPr/>
        </p:nvSpPr>
        <p:spPr>
          <a:xfrm>
            <a:off x="548640" y="2240280"/>
            <a:ext cx="1828800" cy="320040"/>
          </a:xfrm>
          <a:prstGeom prst="rect">
            <a:avLst/>
          </a:prstGeom>
          <a:noFill/>
          <a:ln/>
        </p:spPr>
        <p:txBody>
          <a:bodyPr wrap="square" lIns="0" tIns="0" rIns="0" bIns="0" rtlCol="0" anchor="ctr"/>
          <a:lstStyle/>
          <a:p>
            <a:pPr marL="0" indent="0" algn="ctr">
              <a:buNone/>
            </a:pPr>
            <a:r>
              <a:rPr lang="en-US" sz="1400" b="1" dirty="0">
                <a:solidFill>
                  <a:srgbClr val="003C51"/>
                </a:solidFill>
                <a:latin typeface="Calibri" pitchFamily="34" charset="0"/>
                <a:ea typeface="Calibri" pitchFamily="34" charset="-122"/>
                <a:cs typeface="Calibri" pitchFamily="34" charset="-120"/>
              </a:rPr>
              <a:t>Ingest</a:t>
            </a:r>
            <a:endParaRPr lang="en-US" sz="1400" dirty="0"/>
          </a:p>
        </p:txBody>
      </p:sp>
      <p:sp>
        <p:nvSpPr>
          <p:cNvPr id="9" name="Text 7"/>
          <p:cNvSpPr txBox="1"/>
          <p:nvPr/>
        </p:nvSpPr>
        <p:spPr>
          <a:xfrm>
            <a:off x="640080" y="2606040"/>
            <a:ext cx="1645920" cy="594360"/>
          </a:xfrm>
          <a:prstGeom prst="rect">
            <a:avLst/>
          </a:prstGeom>
          <a:noFill/>
          <a:ln/>
        </p:spPr>
        <p:txBody>
          <a:bodyPr wrap="square" lIns="0" tIns="0" rIns="0" bIns="0" rtlCol="0" anchor="t"/>
          <a:lstStyle/>
          <a:p>
            <a:pPr marL="0" indent="0" algn="ctr">
              <a:buNone/>
            </a:pPr>
            <a:r>
              <a:rPr lang="en-US" sz="950" dirty="0">
                <a:solidFill>
                  <a:srgbClr val="5A5A5A"/>
                </a:solidFill>
                <a:latin typeface="Calibri" pitchFamily="34" charset="0"/>
                <a:ea typeface="Calibri" pitchFamily="34" charset="-122"/>
                <a:cs typeface="Calibri" pitchFamily="34" charset="-120"/>
              </a:rPr>
              <a:t>CSV · JSON · TXT</a:t>
            </a:r>
            <a:endParaRPr lang="en-US" sz="950" dirty="0"/>
          </a:p>
          <a:p>
            <a:pPr marL="0" indent="0" algn="ctr">
              <a:buNone/>
            </a:pPr>
            <a:r>
              <a:rPr lang="en-US" sz="950" dirty="0">
                <a:solidFill>
                  <a:srgbClr val="5A5A5A"/>
                </a:solidFill>
                <a:latin typeface="Calibri" pitchFamily="34" charset="0"/>
                <a:ea typeface="Calibri" pitchFamily="34" charset="-122"/>
                <a:cs typeface="Calibri" pitchFamily="34" charset="-120"/>
              </a:rPr>
              <a:t>multi-vendor files</a:t>
            </a:r>
            <a:endParaRPr lang="en-US" sz="950" dirty="0"/>
          </a:p>
        </p:txBody>
      </p:sp>
      <p:sp>
        <p:nvSpPr>
          <p:cNvPr id="10" name="Text 8"/>
          <p:cNvSpPr txBox="1"/>
          <p:nvPr/>
        </p:nvSpPr>
        <p:spPr>
          <a:xfrm>
            <a:off x="2377440" y="2103120"/>
            <a:ext cx="480060" cy="1188720"/>
          </a:xfrm>
          <a:prstGeom prst="rect">
            <a:avLst/>
          </a:prstGeom>
          <a:noFill/>
          <a:ln/>
        </p:spPr>
        <p:txBody>
          <a:bodyPr wrap="square" lIns="0" tIns="0" rIns="0" bIns="0" rtlCol="0" anchor="ctr"/>
          <a:lstStyle/>
          <a:p>
            <a:pPr marL="0" indent="0" algn="ctr">
              <a:buNone/>
            </a:pPr>
            <a:r>
              <a:rPr lang="en-US" sz="1600" dirty="0">
                <a:solidFill>
                  <a:srgbClr val="00778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857500" y="2103120"/>
            <a:ext cx="1828800" cy="1188720"/>
          </a:xfrm>
          <a:prstGeom prst="rect">
            <a:avLst/>
          </a:prstGeom>
          <a:solidFill>
            <a:srgbClr val="F2F8F8"/>
          </a:solidFill>
          <a:ln/>
        </p:spPr>
        <p:txBody>
          <a:bodyPr/>
          <a:lstStyle/>
          <a:p>
            <a:endParaRPr lang="en-IN"/>
          </a:p>
        </p:txBody>
      </p:sp>
      <p:sp>
        <p:nvSpPr>
          <p:cNvPr id="12" name="Text 10"/>
          <p:cNvSpPr txBox="1"/>
          <p:nvPr/>
        </p:nvSpPr>
        <p:spPr>
          <a:xfrm>
            <a:off x="2857500" y="2240280"/>
            <a:ext cx="1828800" cy="320040"/>
          </a:xfrm>
          <a:prstGeom prst="rect">
            <a:avLst/>
          </a:prstGeom>
          <a:noFill/>
          <a:ln/>
        </p:spPr>
        <p:txBody>
          <a:bodyPr wrap="square" lIns="0" tIns="0" rIns="0" bIns="0" rtlCol="0" anchor="ctr"/>
          <a:lstStyle/>
          <a:p>
            <a:pPr marL="0" indent="0" algn="ctr">
              <a:buNone/>
            </a:pPr>
            <a:r>
              <a:rPr lang="en-US" sz="1400" b="1" dirty="0">
                <a:solidFill>
                  <a:srgbClr val="003C51"/>
                </a:solidFill>
                <a:latin typeface="Calibri" pitchFamily="34" charset="0"/>
                <a:ea typeface="Calibri" pitchFamily="34" charset="-122"/>
                <a:cs typeface="Calibri" pitchFamily="34" charset="-120"/>
              </a:rPr>
              <a:t>Normalize</a:t>
            </a:r>
            <a:endParaRPr lang="en-US" sz="1400" dirty="0"/>
          </a:p>
        </p:txBody>
      </p:sp>
      <p:sp>
        <p:nvSpPr>
          <p:cNvPr id="13" name="Text 11"/>
          <p:cNvSpPr txBox="1"/>
          <p:nvPr/>
        </p:nvSpPr>
        <p:spPr>
          <a:xfrm>
            <a:off x="2948940" y="2606040"/>
            <a:ext cx="1645920" cy="594360"/>
          </a:xfrm>
          <a:prstGeom prst="rect">
            <a:avLst/>
          </a:prstGeom>
          <a:noFill/>
          <a:ln/>
        </p:spPr>
        <p:txBody>
          <a:bodyPr wrap="square" lIns="0" tIns="0" rIns="0" bIns="0" rtlCol="0" anchor="t"/>
          <a:lstStyle/>
          <a:p>
            <a:pPr marL="0" indent="0" algn="ctr">
              <a:buNone/>
            </a:pPr>
            <a:r>
              <a:rPr lang="en-US" sz="950" dirty="0">
                <a:solidFill>
                  <a:srgbClr val="5A5A5A"/>
                </a:solidFill>
                <a:latin typeface="Calibri" pitchFamily="34" charset="0"/>
                <a:ea typeface="Calibri" pitchFamily="34" charset="-122"/>
                <a:cs typeface="Calibri" pitchFamily="34" charset="-120"/>
              </a:rPr>
              <a:t>map vendor fields</a:t>
            </a:r>
            <a:endParaRPr lang="en-US" sz="950" dirty="0"/>
          </a:p>
          <a:p>
            <a:pPr marL="0" indent="0" algn="ctr">
              <a:buNone/>
            </a:pPr>
            <a:r>
              <a:rPr lang="en-US" sz="950" dirty="0">
                <a:solidFill>
                  <a:srgbClr val="5A5A5A"/>
                </a:solidFill>
                <a:latin typeface="Calibri" pitchFamily="34" charset="0"/>
                <a:ea typeface="Calibri" pitchFamily="34" charset="-122"/>
                <a:cs typeface="Calibri" pitchFamily="34" charset="-120"/>
              </a:rPr>
              <a:t>to common schema</a:t>
            </a:r>
            <a:endParaRPr lang="en-US" sz="950" dirty="0"/>
          </a:p>
        </p:txBody>
      </p:sp>
      <p:sp>
        <p:nvSpPr>
          <p:cNvPr id="14" name="Text 12"/>
          <p:cNvSpPr txBox="1"/>
          <p:nvPr/>
        </p:nvSpPr>
        <p:spPr>
          <a:xfrm>
            <a:off x="4686300" y="2103120"/>
            <a:ext cx="480060" cy="1188720"/>
          </a:xfrm>
          <a:prstGeom prst="rect">
            <a:avLst/>
          </a:prstGeom>
          <a:noFill/>
          <a:ln/>
        </p:spPr>
        <p:txBody>
          <a:bodyPr wrap="square" lIns="0" tIns="0" rIns="0" bIns="0" rtlCol="0" anchor="ctr"/>
          <a:lstStyle/>
          <a:p>
            <a:pPr marL="0" indent="0" algn="ctr">
              <a:buNone/>
            </a:pPr>
            <a:r>
              <a:rPr lang="en-US" sz="1600" dirty="0">
                <a:solidFill>
                  <a:srgbClr val="00778B"/>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166360" y="2103120"/>
            <a:ext cx="1828800" cy="1188720"/>
          </a:xfrm>
          <a:prstGeom prst="rect">
            <a:avLst/>
          </a:prstGeom>
          <a:solidFill>
            <a:srgbClr val="F2F8F8"/>
          </a:solidFill>
          <a:ln/>
        </p:spPr>
        <p:txBody>
          <a:bodyPr/>
          <a:lstStyle/>
          <a:p>
            <a:endParaRPr lang="en-IN"/>
          </a:p>
        </p:txBody>
      </p:sp>
      <p:sp>
        <p:nvSpPr>
          <p:cNvPr id="16" name="Text 14"/>
          <p:cNvSpPr txBox="1"/>
          <p:nvPr/>
        </p:nvSpPr>
        <p:spPr>
          <a:xfrm>
            <a:off x="5166360" y="2240280"/>
            <a:ext cx="1828800" cy="320040"/>
          </a:xfrm>
          <a:prstGeom prst="rect">
            <a:avLst/>
          </a:prstGeom>
          <a:noFill/>
          <a:ln/>
        </p:spPr>
        <p:txBody>
          <a:bodyPr wrap="square" lIns="0" tIns="0" rIns="0" bIns="0" rtlCol="0" anchor="ctr"/>
          <a:lstStyle/>
          <a:p>
            <a:pPr marL="0" indent="0" algn="ctr">
              <a:buNone/>
            </a:pPr>
            <a:r>
              <a:rPr lang="en-US" sz="1400" b="1" dirty="0">
                <a:solidFill>
                  <a:srgbClr val="003C51"/>
                </a:solidFill>
                <a:latin typeface="Calibri" pitchFamily="34" charset="0"/>
                <a:ea typeface="Calibri" pitchFamily="34" charset="-122"/>
                <a:cs typeface="Calibri" pitchFamily="34" charset="-120"/>
              </a:rPr>
              <a:t>Analyze</a:t>
            </a:r>
            <a:endParaRPr lang="en-US" sz="1400" dirty="0"/>
          </a:p>
        </p:txBody>
      </p:sp>
      <p:sp>
        <p:nvSpPr>
          <p:cNvPr id="17" name="Text 15"/>
          <p:cNvSpPr txBox="1"/>
          <p:nvPr/>
        </p:nvSpPr>
        <p:spPr>
          <a:xfrm>
            <a:off x="5257800" y="2606040"/>
            <a:ext cx="1645920" cy="594360"/>
          </a:xfrm>
          <a:prstGeom prst="rect">
            <a:avLst/>
          </a:prstGeom>
          <a:noFill/>
          <a:ln/>
        </p:spPr>
        <p:txBody>
          <a:bodyPr wrap="square" lIns="0" tIns="0" rIns="0" bIns="0" rtlCol="0" anchor="t"/>
          <a:lstStyle/>
          <a:p>
            <a:pPr marL="0" indent="0" algn="ctr">
              <a:buNone/>
            </a:pPr>
            <a:r>
              <a:rPr lang="en-US" sz="950" dirty="0">
                <a:solidFill>
                  <a:srgbClr val="5A5A5A"/>
                </a:solidFill>
                <a:latin typeface="Calibri" pitchFamily="34" charset="0"/>
                <a:ea typeface="Calibri" pitchFamily="34" charset="-122"/>
                <a:cs typeface="Calibri" pitchFamily="34" charset="-120"/>
              </a:rPr>
              <a:t>thresholds · z-score</a:t>
            </a:r>
            <a:endParaRPr lang="en-US" sz="950" dirty="0"/>
          </a:p>
          <a:p>
            <a:pPr marL="0" indent="0" algn="ctr">
              <a:buNone/>
            </a:pPr>
            <a:r>
              <a:rPr lang="en-US" sz="950" dirty="0">
                <a:solidFill>
                  <a:srgbClr val="5A5A5A"/>
                </a:solidFill>
                <a:latin typeface="Calibri" pitchFamily="34" charset="0"/>
                <a:ea typeface="Calibri" pitchFamily="34" charset="-122"/>
                <a:cs typeface="Calibri" pitchFamily="34" charset="-120"/>
              </a:rPr>
              <a:t>IQR anomaly checks</a:t>
            </a:r>
            <a:endParaRPr lang="en-US" sz="950" dirty="0"/>
          </a:p>
        </p:txBody>
      </p:sp>
      <p:sp>
        <p:nvSpPr>
          <p:cNvPr id="18" name="Text 16"/>
          <p:cNvSpPr txBox="1"/>
          <p:nvPr/>
        </p:nvSpPr>
        <p:spPr>
          <a:xfrm>
            <a:off x="6995160" y="2103120"/>
            <a:ext cx="480060" cy="1188720"/>
          </a:xfrm>
          <a:prstGeom prst="rect">
            <a:avLst/>
          </a:prstGeom>
          <a:noFill/>
          <a:ln/>
        </p:spPr>
        <p:txBody>
          <a:bodyPr wrap="square" lIns="0" tIns="0" rIns="0" bIns="0" rtlCol="0" anchor="ctr"/>
          <a:lstStyle/>
          <a:p>
            <a:pPr marL="0" indent="0" algn="ctr">
              <a:buNone/>
            </a:pPr>
            <a:r>
              <a:rPr lang="en-US" sz="1600" dirty="0">
                <a:solidFill>
                  <a:srgbClr val="00778B"/>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7475220" y="2103120"/>
            <a:ext cx="1828800" cy="1188720"/>
          </a:xfrm>
          <a:prstGeom prst="rect">
            <a:avLst/>
          </a:prstGeom>
          <a:solidFill>
            <a:srgbClr val="F2F8F8"/>
          </a:solidFill>
          <a:ln/>
        </p:spPr>
        <p:txBody>
          <a:bodyPr/>
          <a:lstStyle/>
          <a:p>
            <a:endParaRPr lang="en-IN"/>
          </a:p>
        </p:txBody>
      </p:sp>
      <p:sp>
        <p:nvSpPr>
          <p:cNvPr id="20" name="Text 18"/>
          <p:cNvSpPr txBox="1"/>
          <p:nvPr/>
        </p:nvSpPr>
        <p:spPr>
          <a:xfrm>
            <a:off x="7475220" y="2240280"/>
            <a:ext cx="1828800" cy="320040"/>
          </a:xfrm>
          <a:prstGeom prst="rect">
            <a:avLst/>
          </a:prstGeom>
          <a:noFill/>
          <a:ln/>
        </p:spPr>
        <p:txBody>
          <a:bodyPr wrap="square" lIns="0" tIns="0" rIns="0" bIns="0" rtlCol="0" anchor="ctr"/>
          <a:lstStyle/>
          <a:p>
            <a:pPr marL="0" indent="0" algn="ctr">
              <a:buNone/>
            </a:pPr>
            <a:r>
              <a:rPr lang="en-US" sz="1400" b="1" dirty="0">
                <a:solidFill>
                  <a:srgbClr val="003C51"/>
                </a:solidFill>
                <a:latin typeface="Calibri" pitchFamily="34" charset="0"/>
                <a:ea typeface="Calibri" pitchFamily="34" charset="-122"/>
                <a:cs typeface="Calibri" pitchFamily="34" charset="-120"/>
              </a:rPr>
              <a:t>Correlate</a:t>
            </a:r>
            <a:endParaRPr lang="en-US" sz="1400" dirty="0"/>
          </a:p>
        </p:txBody>
      </p:sp>
      <p:sp>
        <p:nvSpPr>
          <p:cNvPr id="21" name="Text 19"/>
          <p:cNvSpPr txBox="1"/>
          <p:nvPr/>
        </p:nvSpPr>
        <p:spPr>
          <a:xfrm>
            <a:off x="7566660" y="2606040"/>
            <a:ext cx="1645920" cy="594360"/>
          </a:xfrm>
          <a:prstGeom prst="rect">
            <a:avLst/>
          </a:prstGeom>
          <a:noFill/>
          <a:ln/>
        </p:spPr>
        <p:txBody>
          <a:bodyPr wrap="square" lIns="0" tIns="0" rIns="0" bIns="0" rtlCol="0" anchor="t"/>
          <a:lstStyle/>
          <a:p>
            <a:pPr marL="0" indent="0" algn="ctr">
              <a:buNone/>
            </a:pPr>
            <a:r>
              <a:rPr lang="en-US" sz="950" dirty="0">
                <a:solidFill>
                  <a:srgbClr val="5A5A5A"/>
                </a:solidFill>
                <a:latin typeface="Calibri" pitchFamily="34" charset="0"/>
                <a:ea typeface="Calibri" pitchFamily="34" charset="-122"/>
                <a:cs typeface="Calibri" pitchFamily="34" charset="-120"/>
              </a:rPr>
              <a:t>link anomalies to</a:t>
            </a:r>
            <a:endParaRPr lang="en-US" sz="950" dirty="0"/>
          </a:p>
          <a:p>
            <a:pPr marL="0" indent="0" algn="ctr">
              <a:buNone/>
            </a:pPr>
            <a:r>
              <a:rPr lang="en-US" sz="950" dirty="0">
                <a:solidFill>
                  <a:srgbClr val="5A5A5A"/>
                </a:solidFill>
                <a:latin typeface="Calibri" pitchFamily="34" charset="0"/>
                <a:ea typeface="Calibri" pitchFamily="34" charset="-122"/>
                <a:cs typeface="Calibri" pitchFamily="34" charset="-120"/>
              </a:rPr>
              <a:t>failures &amp; dashboards</a:t>
            </a:r>
            <a:endParaRPr lang="en-US" sz="950" dirty="0"/>
          </a:p>
        </p:txBody>
      </p:sp>
      <p:sp>
        <p:nvSpPr>
          <p:cNvPr id="22" name="Text 20"/>
          <p:cNvSpPr txBox="1"/>
          <p:nvPr/>
        </p:nvSpPr>
        <p:spPr>
          <a:xfrm>
            <a:off x="9304020" y="2103120"/>
            <a:ext cx="480060" cy="1188720"/>
          </a:xfrm>
          <a:prstGeom prst="rect">
            <a:avLst/>
          </a:prstGeom>
          <a:noFill/>
          <a:ln/>
        </p:spPr>
        <p:txBody>
          <a:bodyPr wrap="square" lIns="0" tIns="0" rIns="0" bIns="0" rtlCol="0" anchor="ctr"/>
          <a:lstStyle/>
          <a:p>
            <a:pPr marL="0" indent="0" algn="ctr">
              <a:buNone/>
            </a:pPr>
            <a:r>
              <a:rPr lang="en-US" sz="1600" dirty="0">
                <a:solidFill>
                  <a:srgbClr val="00778B"/>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9784080" y="2103120"/>
            <a:ext cx="1828800" cy="1188720"/>
          </a:xfrm>
          <a:prstGeom prst="rect">
            <a:avLst/>
          </a:prstGeom>
          <a:solidFill>
            <a:srgbClr val="003C51"/>
          </a:solidFill>
          <a:ln/>
        </p:spPr>
        <p:txBody>
          <a:bodyPr/>
          <a:lstStyle/>
          <a:p>
            <a:endParaRPr lang="en-IN"/>
          </a:p>
        </p:txBody>
      </p:sp>
      <p:sp>
        <p:nvSpPr>
          <p:cNvPr id="24" name="Text 22"/>
          <p:cNvSpPr txBox="1"/>
          <p:nvPr/>
        </p:nvSpPr>
        <p:spPr>
          <a:xfrm>
            <a:off x="9784080" y="2240280"/>
            <a:ext cx="18288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Report</a:t>
            </a:r>
            <a:endParaRPr lang="en-US" sz="1400" dirty="0"/>
          </a:p>
        </p:txBody>
      </p:sp>
      <p:sp>
        <p:nvSpPr>
          <p:cNvPr id="25" name="Text 23"/>
          <p:cNvSpPr txBox="1"/>
          <p:nvPr/>
        </p:nvSpPr>
        <p:spPr>
          <a:xfrm>
            <a:off x="9875520" y="2606040"/>
            <a:ext cx="1645920" cy="594360"/>
          </a:xfrm>
          <a:prstGeom prst="rect">
            <a:avLst/>
          </a:prstGeom>
          <a:noFill/>
          <a:ln/>
        </p:spPr>
        <p:txBody>
          <a:bodyPr wrap="square" lIns="0" tIns="0" rIns="0" bIns="0" rtlCol="0" anchor="t"/>
          <a:lstStyle/>
          <a:p>
            <a:pPr marL="0" indent="0" algn="ctr">
              <a:buNone/>
            </a:pPr>
            <a:r>
              <a:rPr lang="en-US" sz="950" dirty="0">
                <a:solidFill>
                  <a:srgbClr val="E3EFEF"/>
                </a:solidFill>
                <a:latin typeface="Calibri" pitchFamily="34" charset="0"/>
                <a:ea typeface="Calibri" pitchFamily="34" charset="-122"/>
                <a:cs typeface="Calibri" pitchFamily="34" charset="-120"/>
              </a:rPr>
              <a:t>evidence-based</a:t>
            </a:r>
            <a:endParaRPr lang="en-US" sz="950" dirty="0"/>
          </a:p>
          <a:p>
            <a:pPr marL="0" indent="0" algn="ctr">
              <a:buNone/>
            </a:pPr>
            <a:r>
              <a:rPr lang="en-US" sz="950" dirty="0">
                <a:solidFill>
                  <a:srgbClr val="E3EFEF"/>
                </a:solidFill>
                <a:latin typeface="Calibri" pitchFamily="34" charset="0"/>
                <a:ea typeface="Calibri" pitchFamily="34" charset="-122"/>
                <a:cs typeface="Calibri" pitchFamily="34" charset="-120"/>
              </a:rPr>
              <a:t>JSON + Markdown</a:t>
            </a:r>
            <a:endParaRPr lang="en-US" sz="950" dirty="0"/>
          </a:p>
        </p:txBody>
      </p:sp>
      <p:sp>
        <p:nvSpPr>
          <p:cNvPr id="26" name="Text 24"/>
          <p:cNvSpPr txBox="1"/>
          <p:nvPr/>
        </p:nvSpPr>
        <p:spPr>
          <a:xfrm>
            <a:off x="548640" y="3611880"/>
            <a:ext cx="10058400" cy="365760"/>
          </a:xfrm>
          <a:prstGeom prst="rect">
            <a:avLst/>
          </a:prstGeom>
          <a:noFill/>
          <a:ln/>
        </p:spPr>
        <p:txBody>
          <a:bodyPr wrap="square" lIns="0" tIns="0" rIns="0" bIns="0" rtlCol="0" anchor="ctr"/>
          <a:lstStyle/>
          <a:p>
            <a:pPr marL="0" indent="0">
              <a:buNone/>
            </a:pPr>
            <a:r>
              <a:rPr lang="en-US" sz="1250" i="1" dirty="0">
                <a:solidFill>
                  <a:srgbClr val="5A5A5A"/>
                </a:solidFill>
                <a:latin typeface="Calibri" pitchFamily="34" charset="0"/>
                <a:ea typeface="Calibri" pitchFamily="34" charset="-122"/>
                <a:cs typeface="Calibri" pitchFamily="34" charset="-120"/>
              </a:rPr>
              <a:t>Implemented as an 11-node LangGraph StateGraph – sequential, typed, fully reproducible.</a:t>
            </a:r>
            <a:endParaRPr lang="en-US" sz="1250" dirty="0"/>
          </a:p>
        </p:txBody>
      </p:sp>
      <p:sp>
        <p:nvSpPr>
          <p:cNvPr id="27" name="Shape 25"/>
          <p:cNvSpPr/>
          <p:nvPr/>
        </p:nvSpPr>
        <p:spPr>
          <a:xfrm>
            <a:off x="548640" y="4407408"/>
            <a:ext cx="118872" cy="118872"/>
          </a:xfrm>
          <a:prstGeom prst="ellipse">
            <a:avLst/>
          </a:prstGeom>
          <a:solidFill>
            <a:srgbClr val="12B28F"/>
          </a:solidFill>
          <a:ln/>
        </p:spPr>
        <p:txBody>
          <a:bodyPr/>
          <a:lstStyle/>
          <a:p>
            <a:endParaRPr lang="en-IN"/>
          </a:p>
        </p:txBody>
      </p:sp>
      <p:sp>
        <p:nvSpPr>
          <p:cNvPr id="28" name="Text 26"/>
          <p:cNvSpPr txBox="1"/>
          <p:nvPr/>
        </p:nvSpPr>
        <p:spPr>
          <a:xfrm>
            <a:off x="804672" y="4297680"/>
            <a:ext cx="5138928" cy="5029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Never fabricate missing data – unknown stays unknown</a:t>
            </a:r>
            <a:endParaRPr lang="en-US" sz="1200" dirty="0"/>
          </a:p>
        </p:txBody>
      </p:sp>
      <p:sp>
        <p:nvSpPr>
          <p:cNvPr id="29" name="Shape 27"/>
          <p:cNvSpPr/>
          <p:nvPr/>
        </p:nvSpPr>
        <p:spPr>
          <a:xfrm>
            <a:off x="6217920" y="4407408"/>
            <a:ext cx="118872" cy="118872"/>
          </a:xfrm>
          <a:prstGeom prst="ellipse">
            <a:avLst/>
          </a:prstGeom>
          <a:solidFill>
            <a:srgbClr val="12B28F"/>
          </a:solidFill>
          <a:ln/>
        </p:spPr>
        <p:txBody>
          <a:bodyPr/>
          <a:lstStyle/>
          <a:p>
            <a:endParaRPr lang="en-IN"/>
          </a:p>
        </p:txBody>
      </p:sp>
      <p:sp>
        <p:nvSpPr>
          <p:cNvPr id="30" name="Text 28"/>
          <p:cNvSpPr txBox="1"/>
          <p:nvPr/>
        </p:nvSpPr>
        <p:spPr>
          <a:xfrm>
            <a:off x="6473952" y="4297680"/>
            <a:ext cx="5138928" cy="5029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Correlation is reported as evidence, never as proof of root cause</a:t>
            </a:r>
            <a:endParaRPr lang="en-US" sz="1200" dirty="0"/>
          </a:p>
        </p:txBody>
      </p:sp>
      <p:sp>
        <p:nvSpPr>
          <p:cNvPr id="31" name="Shape 29"/>
          <p:cNvSpPr/>
          <p:nvPr/>
        </p:nvSpPr>
        <p:spPr>
          <a:xfrm>
            <a:off x="548640" y="5001768"/>
            <a:ext cx="118872" cy="118872"/>
          </a:xfrm>
          <a:prstGeom prst="ellipse">
            <a:avLst/>
          </a:prstGeom>
          <a:solidFill>
            <a:srgbClr val="12B28F"/>
          </a:solidFill>
          <a:ln/>
        </p:spPr>
        <p:txBody>
          <a:bodyPr/>
          <a:lstStyle/>
          <a:p>
            <a:endParaRPr lang="en-IN"/>
          </a:p>
        </p:txBody>
      </p:sp>
      <p:sp>
        <p:nvSpPr>
          <p:cNvPr id="32" name="Text 30"/>
          <p:cNvSpPr txBox="1"/>
          <p:nvPr/>
        </p:nvSpPr>
        <p:spPr>
          <a:xfrm>
            <a:off x="804672" y="4892040"/>
            <a:ext cx="5138928" cy="5029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No PLC or machine control – human review before action</a:t>
            </a:r>
            <a:endParaRPr lang="en-US" sz="1200" dirty="0"/>
          </a:p>
        </p:txBody>
      </p:sp>
      <p:sp>
        <p:nvSpPr>
          <p:cNvPr id="33" name="Shape 31"/>
          <p:cNvSpPr/>
          <p:nvPr/>
        </p:nvSpPr>
        <p:spPr>
          <a:xfrm>
            <a:off x="6217920" y="5001768"/>
            <a:ext cx="118872" cy="118872"/>
          </a:xfrm>
          <a:prstGeom prst="ellipse">
            <a:avLst/>
          </a:prstGeom>
          <a:solidFill>
            <a:srgbClr val="12B28F"/>
          </a:solidFill>
          <a:ln/>
        </p:spPr>
        <p:txBody>
          <a:bodyPr/>
          <a:lstStyle/>
          <a:p>
            <a:endParaRPr lang="en-IN"/>
          </a:p>
        </p:txBody>
      </p:sp>
      <p:sp>
        <p:nvSpPr>
          <p:cNvPr id="34" name="Text 32"/>
          <p:cNvSpPr txBox="1"/>
          <p:nvPr/>
        </p:nvSpPr>
        <p:spPr>
          <a:xfrm>
            <a:off x="6473952" y="4892040"/>
            <a:ext cx="5138928" cy="5029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100% local execution – no cloud call, works air-gapped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Key architecture decisions</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From the Architectural Design Document</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07</a:t>
            </a:r>
            <a:endParaRPr lang="en-US" sz="900" dirty="0"/>
          </a:p>
        </p:txBody>
      </p:sp>
      <p:sp>
        <p:nvSpPr>
          <p:cNvPr id="7" name="Shape 5"/>
          <p:cNvSpPr/>
          <p:nvPr/>
        </p:nvSpPr>
        <p:spPr>
          <a:xfrm>
            <a:off x="548640" y="1828800"/>
            <a:ext cx="5394960" cy="1280160"/>
          </a:xfrm>
          <a:prstGeom prst="rect">
            <a:avLst/>
          </a:prstGeom>
          <a:solidFill>
            <a:srgbClr val="F2F8F8"/>
          </a:solidFill>
          <a:ln/>
        </p:spPr>
        <p:txBody>
          <a:bodyPr/>
          <a:lstStyle/>
          <a:p>
            <a:endParaRPr lang="en-IN"/>
          </a:p>
        </p:txBody>
      </p:sp>
      <p:sp>
        <p:nvSpPr>
          <p:cNvPr id="8" name="Text 6"/>
          <p:cNvSpPr txBox="1"/>
          <p:nvPr/>
        </p:nvSpPr>
        <p:spPr>
          <a:xfrm>
            <a:off x="777240" y="1938528"/>
            <a:ext cx="4937760" cy="274320"/>
          </a:xfrm>
          <a:prstGeom prst="rect">
            <a:avLst/>
          </a:prstGeom>
          <a:noFill/>
          <a:ln/>
        </p:spPr>
        <p:txBody>
          <a:bodyPr wrap="square" lIns="0" tIns="0" rIns="0" bIns="0" rtlCol="0" anchor="ctr"/>
          <a:lstStyle/>
          <a:p>
            <a:pPr marL="0" indent="0">
              <a:buNone/>
            </a:pPr>
            <a:r>
              <a:rPr lang="en-US" sz="1300" b="1" dirty="0">
                <a:solidFill>
                  <a:srgbClr val="003C51"/>
                </a:solidFill>
                <a:latin typeface="Calibri" pitchFamily="34" charset="0"/>
                <a:ea typeface="Calibri" pitchFamily="34" charset="-122"/>
                <a:cs typeface="Calibri" pitchFamily="34" charset="-120"/>
              </a:rPr>
              <a:t>Workflow vs. agent</a:t>
            </a:r>
            <a:endParaRPr lang="en-US" sz="1300" dirty="0"/>
          </a:p>
        </p:txBody>
      </p:sp>
      <p:sp>
        <p:nvSpPr>
          <p:cNvPr id="9" name="Text 7"/>
          <p:cNvSpPr txBox="1"/>
          <p:nvPr/>
        </p:nvSpPr>
        <p:spPr>
          <a:xfrm>
            <a:off x="777240" y="2286000"/>
            <a:ext cx="4937760" cy="7772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Workflow – steps are predictable and deterministic. An AI reasoning agent can be added later.</a:t>
            </a:r>
            <a:endParaRPr lang="en-US" sz="1150" dirty="0"/>
          </a:p>
        </p:txBody>
      </p:sp>
      <p:sp>
        <p:nvSpPr>
          <p:cNvPr id="10" name="Shape 8"/>
          <p:cNvSpPr/>
          <p:nvPr/>
        </p:nvSpPr>
        <p:spPr>
          <a:xfrm>
            <a:off x="6217920" y="1828800"/>
            <a:ext cx="5394960" cy="1280160"/>
          </a:xfrm>
          <a:prstGeom prst="rect">
            <a:avLst/>
          </a:prstGeom>
          <a:solidFill>
            <a:srgbClr val="F2F8F8"/>
          </a:solidFill>
          <a:ln/>
        </p:spPr>
        <p:txBody>
          <a:bodyPr/>
          <a:lstStyle/>
          <a:p>
            <a:endParaRPr lang="en-IN"/>
          </a:p>
        </p:txBody>
      </p:sp>
      <p:sp>
        <p:nvSpPr>
          <p:cNvPr id="11" name="Text 9"/>
          <p:cNvSpPr txBox="1"/>
          <p:nvPr/>
        </p:nvSpPr>
        <p:spPr>
          <a:xfrm>
            <a:off x="6446520" y="1938528"/>
            <a:ext cx="4937760" cy="274320"/>
          </a:xfrm>
          <a:prstGeom prst="rect">
            <a:avLst/>
          </a:prstGeom>
          <a:noFill/>
          <a:ln/>
        </p:spPr>
        <p:txBody>
          <a:bodyPr wrap="square" lIns="0" tIns="0" rIns="0" bIns="0" rtlCol="0" anchor="ctr"/>
          <a:lstStyle/>
          <a:p>
            <a:pPr marL="0" indent="0">
              <a:buNone/>
            </a:pPr>
            <a:r>
              <a:rPr lang="en-US" sz="1300" b="1" dirty="0">
                <a:solidFill>
                  <a:srgbClr val="003C51"/>
                </a:solidFill>
                <a:latin typeface="Calibri" pitchFamily="34" charset="0"/>
                <a:ea typeface="Calibri" pitchFamily="34" charset="-122"/>
                <a:cs typeface="Calibri" pitchFamily="34" charset="-120"/>
              </a:rPr>
              <a:t>Framework</a:t>
            </a:r>
            <a:endParaRPr lang="en-US" sz="1300" dirty="0"/>
          </a:p>
        </p:txBody>
      </p:sp>
      <p:sp>
        <p:nvSpPr>
          <p:cNvPr id="12" name="Text 10"/>
          <p:cNvSpPr txBox="1"/>
          <p:nvPr/>
        </p:nvSpPr>
        <p:spPr>
          <a:xfrm>
            <a:off x="6446520" y="2286000"/>
            <a:ext cx="4937760" cy="7772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Python + LangGraph, chosen for stateful orchestration and a clean path to future AI.</a:t>
            </a:r>
            <a:endParaRPr lang="en-US" sz="1150" dirty="0"/>
          </a:p>
        </p:txBody>
      </p:sp>
      <p:sp>
        <p:nvSpPr>
          <p:cNvPr id="13" name="Shape 11"/>
          <p:cNvSpPr/>
          <p:nvPr/>
        </p:nvSpPr>
        <p:spPr>
          <a:xfrm>
            <a:off x="548640" y="3246120"/>
            <a:ext cx="5394960" cy="1280160"/>
          </a:xfrm>
          <a:prstGeom prst="rect">
            <a:avLst/>
          </a:prstGeom>
          <a:solidFill>
            <a:srgbClr val="F2F8F8"/>
          </a:solidFill>
          <a:ln/>
        </p:spPr>
        <p:txBody>
          <a:bodyPr/>
          <a:lstStyle/>
          <a:p>
            <a:endParaRPr lang="en-IN"/>
          </a:p>
        </p:txBody>
      </p:sp>
      <p:sp>
        <p:nvSpPr>
          <p:cNvPr id="14" name="Text 12"/>
          <p:cNvSpPr txBox="1"/>
          <p:nvPr/>
        </p:nvSpPr>
        <p:spPr>
          <a:xfrm>
            <a:off x="777240" y="3355848"/>
            <a:ext cx="4937760" cy="274320"/>
          </a:xfrm>
          <a:prstGeom prst="rect">
            <a:avLst/>
          </a:prstGeom>
          <a:noFill/>
          <a:ln/>
        </p:spPr>
        <p:txBody>
          <a:bodyPr wrap="square" lIns="0" tIns="0" rIns="0" bIns="0" rtlCol="0" anchor="ctr"/>
          <a:lstStyle/>
          <a:p>
            <a:pPr marL="0" indent="0">
              <a:buNone/>
            </a:pPr>
            <a:r>
              <a:rPr lang="en-US" sz="1300" b="1" dirty="0">
                <a:solidFill>
                  <a:srgbClr val="003C51"/>
                </a:solidFill>
                <a:latin typeface="Calibri" pitchFamily="34" charset="0"/>
                <a:ea typeface="Calibri" pitchFamily="34" charset="-122"/>
                <a:cs typeface="Calibri" pitchFamily="34" charset="-120"/>
              </a:rPr>
              <a:t>Tools &amp; data</a:t>
            </a:r>
            <a:endParaRPr lang="en-US" sz="1300" dirty="0"/>
          </a:p>
        </p:txBody>
      </p:sp>
      <p:sp>
        <p:nvSpPr>
          <p:cNvPr id="15" name="Text 13"/>
          <p:cNvSpPr txBox="1"/>
          <p:nvPr/>
        </p:nvSpPr>
        <p:spPr>
          <a:xfrm>
            <a:off x="777240" y="3703320"/>
            <a:ext cx="4937760" cy="7772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Pandas, Pydantic, local filesystem only – no cloud or external API dependency.</a:t>
            </a:r>
            <a:endParaRPr lang="en-US" sz="1150" dirty="0"/>
          </a:p>
        </p:txBody>
      </p:sp>
      <p:sp>
        <p:nvSpPr>
          <p:cNvPr id="16" name="Shape 14"/>
          <p:cNvSpPr/>
          <p:nvPr/>
        </p:nvSpPr>
        <p:spPr>
          <a:xfrm>
            <a:off x="6217920" y="3246120"/>
            <a:ext cx="5394960" cy="1280160"/>
          </a:xfrm>
          <a:prstGeom prst="rect">
            <a:avLst/>
          </a:prstGeom>
          <a:solidFill>
            <a:srgbClr val="F2F8F8"/>
          </a:solidFill>
          <a:ln/>
        </p:spPr>
        <p:txBody>
          <a:bodyPr/>
          <a:lstStyle/>
          <a:p>
            <a:endParaRPr lang="en-IN"/>
          </a:p>
        </p:txBody>
      </p:sp>
      <p:sp>
        <p:nvSpPr>
          <p:cNvPr id="17" name="Text 15"/>
          <p:cNvSpPr txBox="1"/>
          <p:nvPr/>
        </p:nvSpPr>
        <p:spPr>
          <a:xfrm>
            <a:off x="6446520" y="3355848"/>
            <a:ext cx="4937760" cy="274320"/>
          </a:xfrm>
          <a:prstGeom prst="rect">
            <a:avLst/>
          </a:prstGeom>
          <a:noFill/>
          <a:ln/>
        </p:spPr>
        <p:txBody>
          <a:bodyPr wrap="square" lIns="0" tIns="0" rIns="0" bIns="0" rtlCol="0" anchor="ctr"/>
          <a:lstStyle/>
          <a:p>
            <a:pPr marL="0" indent="0">
              <a:buNone/>
            </a:pPr>
            <a:r>
              <a:rPr lang="en-US" sz="1300" b="1" dirty="0">
                <a:solidFill>
                  <a:srgbClr val="003C51"/>
                </a:solidFill>
                <a:latin typeface="Calibri" pitchFamily="34" charset="0"/>
                <a:ea typeface="Calibri" pitchFamily="34" charset="-122"/>
                <a:cs typeface="Calibri" pitchFamily="34" charset="-120"/>
              </a:rPr>
              <a:t>Model strategy</a:t>
            </a:r>
            <a:endParaRPr lang="en-US" sz="1300" dirty="0"/>
          </a:p>
        </p:txBody>
      </p:sp>
      <p:sp>
        <p:nvSpPr>
          <p:cNvPr id="18" name="Text 16"/>
          <p:cNvSpPr txBox="1"/>
          <p:nvPr/>
        </p:nvSpPr>
        <p:spPr>
          <a:xfrm>
            <a:off x="6446520" y="3703320"/>
            <a:ext cx="4937760" cy="7772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No LLM in V1. A small/mid model is the planned V2 step for text interpretation.</a:t>
            </a:r>
            <a:endParaRPr lang="en-US" sz="1150" dirty="0"/>
          </a:p>
        </p:txBody>
      </p:sp>
      <p:sp>
        <p:nvSpPr>
          <p:cNvPr id="19" name="Shape 17"/>
          <p:cNvSpPr/>
          <p:nvPr/>
        </p:nvSpPr>
        <p:spPr>
          <a:xfrm>
            <a:off x="548640" y="4663440"/>
            <a:ext cx="5394960" cy="1280160"/>
          </a:xfrm>
          <a:prstGeom prst="rect">
            <a:avLst/>
          </a:prstGeom>
          <a:solidFill>
            <a:srgbClr val="F2F8F8"/>
          </a:solidFill>
          <a:ln/>
        </p:spPr>
        <p:txBody>
          <a:bodyPr/>
          <a:lstStyle/>
          <a:p>
            <a:endParaRPr lang="en-IN"/>
          </a:p>
        </p:txBody>
      </p:sp>
      <p:sp>
        <p:nvSpPr>
          <p:cNvPr id="20" name="Text 18"/>
          <p:cNvSpPr txBox="1"/>
          <p:nvPr/>
        </p:nvSpPr>
        <p:spPr>
          <a:xfrm>
            <a:off x="777240" y="4773168"/>
            <a:ext cx="4937760" cy="274320"/>
          </a:xfrm>
          <a:prstGeom prst="rect">
            <a:avLst/>
          </a:prstGeom>
          <a:noFill/>
          <a:ln/>
        </p:spPr>
        <p:txBody>
          <a:bodyPr wrap="square" lIns="0" tIns="0" rIns="0" bIns="0" rtlCol="0" anchor="ctr"/>
          <a:lstStyle/>
          <a:p>
            <a:pPr marL="0" indent="0">
              <a:buNone/>
            </a:pPr>
            <a:r>
              <a:rPr lang="en-US" sz="1300" b="1" dirty="0">
                <a:solidFill>
                  <a:srgbClr val="003C51"/>
                </a:solidFill>
                <a:latin typeface="Calibri" pitchFamily="34" charset="0"/>
                <a:ea typeface="Calibri" pitchFamily="34" charset="-122"/>
                <a:cs typeface="Calibri" pitchFamily="34" charset="-120"/>
              </a:rPr>
              <a:t>Failure handling</a:t>
            </a:r>
            <a:endParaRPr lang="en-US" sz="1300" dirty="0"/>
          </a:p>
        </p:txBody>
      </p:sp>
      <p:sp>
        <p:nvSpPr>
          <p:cNvPr id="21" name="Text 19"/>
          <p:cNvSpPr txBox="1"/>
          <p:nvPr/>
        </p:nvSpPr>
        <p:spPr>
          <a:xfrm>
            <a:off x="777240" y="5120640"/>
            <a:ext cx="4937760" cy="7772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One bad file never blocks the run; valid files continue, issues are logged and escalated.</a:t>
            </a:r>
            <a:endParaRPr lang="en-US" sz="1150" dirty="0"/>
          </a:p>
        </p:txBody>
      </p:sp>
      <p:sp>
        <p:nvSpPr>
          <p:cNvPr id="22" name="Shape 20"/>
          <p:cNvSpPr/>
          <p:nvPr/>
        </p:nvSpPr>
        <p:spPr>
          <a:xfrm>
            <a:off x="6217920" y="4663440"/>
            <a:ext cx="5394960" cy="1280160"/>
          </a:xfrm>
          <a:prstGeom prst="rect">
            <a:avLst/>
          </a:prstGeom>
          <a:solidFill>
            <a:srgbClr val="F2F8F8"/>
          </a:solidFill>
          <a:ln/>
        </p:spPr>
        <p:txBody>
          <a:bodyPr/>
          <a:lstStyle/>
          <a:p>
            <a:endParaRPr lang="en-IN"/>
          </a:p>
        </p:txBody>
      </p:sp>
      <p:sp>
        <p:nvSpPr>
          <p:cNvPr id="23" name="Text 21"/>
          <p:cNvSpPr txBox="1"/>
          <p:nvPr/>
        </p:nvSpPr>
        <p:spPr>
          <a:xfrm>
            <a:off x="6446520" y="4773168"/>
            <a:ext cx="4937760" cy="274320"/>
          </a:xfrm>
          <a:prstGeom prst="rect">
            <a:avLst/>
          </a:prstGeom>
          <a:noFill/>
          <a:ln/>
        </p:spPr>
        <p:txBody>
          <a:bodyPr wrap="square" lIns="0" tIns="0" rIns="0" bIns="0" rtlCol="0" anchor="ctr"/>
          <a:lstStyle/>
          <a:p>
            <a:pPr marL="0" indent="0">
              <a:buNone/>
            </a:pPr>
            <a:r>
              <a:rPr lang="en-US" sz="1300" b="1" dirty="0">
                <a:solidFill>
                  <a:srgbClr val="003C51"/>
                </a:solidFill>
                <a:latin typeface="Calibri" pitchFamily="34" charset="0"/>
                <a:ea typeface="Calibri" pitchFamily="34" charset="-122"/>
                <a:cs typeface="Calibri" pitchFamily="34" charset="-120"/>
              </a:rPr>
              <a:t>Human-in-the-loop</a:t>
            </a:r>
            <a:endParaRPr lang="en-US" sz="1300" dirty="0"/>
          </a:p>
        </p:txBody>
      </p:sp>
      <p:sp>
        <p:nvSpPr>
          <p:cNvPr id="24" name="Text 22"/>
          <p:cNvSpPr txBox="1"/>
          <p:nvPr/>
        </p:nvSpPr>
        <p:spPr>
          <a:xfrm>
            <a:off x="6446520" y="5120640"/>
            <a:ext cx="4937760" cy="77724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Maintenance supervisor validates every recommendation before action is taken.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Thin-slice prototype</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Built with Spec-Driven Development: PRD → Spec → Stories → Acceptance Criteria → Code</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08</a:t>
            </a:r>
            <a:endParaRPr lang="en-US" sz="900" dirty="0"/>
          </a:p>
        </p:txBody>
      </p:sp>
      <p:sp>
        <p:nvSpPr>
          <p:cNvPr id="7" name="Shape 5"/>
          <p:cNvSpPr/>
          <p:nvPr/>
        </p:nvSpPr>
        <p:spPr>
          <a:xfrm>
            <a:off x="548640" y="1828800"/>
            <a:ext cx="1828800" cy="640080"/>
          </a:xfrm>
          <a:prstGeom prst="roundRect">
            <a:avLst>
              <a:gd name="adj" fmla="val 11429"/>
            </a:avLst>
          </a:prstGeom>
          <a:solidFill>
            <a:srgbClr val="E3EFEF"/>
          </a:solidFill>
          <a:ln/>
        </p:spPr>
        <p:txBody>
          <a:bodyPr/>
          <a:lstStyle/>
          <a:p>
            <a:endParaRPr lang="en-IN"/>
          </a:p>
        </p:txBody>
      </p:sp>
      <p:sp>
        <p:nvSpPr>
          <p:cNvPr id="8" name="Text 6"/>
          <p:cNvSpPr txBox="1"/>
          <p:nvPr/>
        </p:nvSpPr>
        <p:spPr>
          <a:xfrm>
            <a:off x="548640" y="1828800"/>
            <a:ext cx="1828800" cy="640080"/>
          </a:xfrm>
          <a:prstGeom prst="rect">
            <a:avLst/>
          </a:prstGeom>
          <a:noFill/>
          <a:ln/>
        </p:spPr>
        <p:txBody>
          <a:bodyPr wrap="square" lIns="0" tIns="0" rIns="0" bIns="0" rtlCol="0" anchor="ctr"/>
          <a:lstStyle/>
          <a:p>
            <a:pPr marL="0" indent="0" algn="ctr">
              <a:buNone/>
            </a:pPr>
            <a:r>
              <a:rPr lang="en-US" sz="1200" b="1" dirty="0">
                <a:solidFill>
                  <a:srgbClr val="003C51"/>
                </a:solidFill>
                <a:latin typeface="Calibri" pitchFamily="34" charset="0"/>
                <a:ea typeface="Calibri" pitchFamily="34" charset="-122"/>
                <a:cs typeface="Calibri" pitchFamily="34" charset="-120"/>
              </a:rPr>
              <a:t>PRD</a:t>
            </a:r>
            <a:endParaRPr lang="en-US" sz="1200" dirty="0"/>
          </a:p>
        </p:txBody>
      </p:sp>
      <p:sp>
        <p:nvSpPr>
          <p:cNvPr id="9" name="Text 7"/>
          <p:cNvSpPr txBox="1"/>
          <p:nvPr/>
        </p:nvSpPr>
        <p:spPr>
          <a:xfrm>
            <a:off x="2377440" y="1828800"/>
            <a:ext cx="480060" cy="640080"/>
          </a:xfrm>
          <a:prstGeom prst="rect">
            <a:avLst/>
          </a:prstGeom>
          <a:noFill/>
          <a:ln/>
        </p:spPr>
        <p:txBody>
          <a:bodyPr wrap="square" lIns="0" tIns="0" rIns="0" bIns="0" rtlCol="0" anchor="ctr"/>
          <a:lstStyle/>
          <a:p>
            <a:pPr marL="0" indent="0" algn="ctr">
              <a:buNone/>
            </a:pPr>
            <a:r>
              <a:rPr lang="en-US" sz="1500" dirty="0">
                <a:solidFill>
                  <a:srgbClr val="00778B"/>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857500" y="1828800"/>
            <a:ext cx="1828800" cy="640080"/>
          </a:xfrm>
          <a:prstGeom prst="roundRect">
            <a:avLst>
              <a:gd name="adj" fmla="val 11429"/>
            </a:avLst>
          </a:prstGeom>
          <a:solidFill>
            <a:srgbClr val="E3EFEF"/>
          </a:solidFill>
          <a:ln/>
        </p:spPr>
        <p:txBody>
          <a:bodyPr/>
          <a:lstStyle/>
          <a:p>
            <a:endParaRPr lang="en-IN"/>
          </a:p>
        </p:txBody>
      </p:sp>
      <p:sp>
        <p:nvSpPr>
          <p:cNvPr id="11" name="Text 9"/>
          <p:cNvSpPr txBox="1"/>
          <p:nvPr/>
        </p:nvSpPr>
        <p:spPr>
          <a:xfrm>
            <a:off x="2857500" y="1828800"/>
            <a:ext cx="1828800" cy="640080"/>
          </a:xfrm>
          <a:prstGeom prst="rect">
            <a:avLst/>
          </a:prstGeom>
          <a:noFill/>
          <a:ln/>
        </p:spPr>
        <p:txBody>
          <a:bodyPr wrap="square" lIns="0" tIns="0" rIns="0" bIns="0" rtlCol="0" anchor="ctr"/>
          <a:lstStyle/>
          <a:p>
            <a:pPr marL="0" indent="0" algn="ctr">
              <a:buNone/>
            </a:pPr>
            <a:r>
              <a:rPr lang="en-US" sz="1200" b="1" dirty="0">
                <a:solidFill>
                  <a:srgbClr val="003C51"/>
                </a:solidFill>
                <a:latin typeface="Calibri" pitchFamily="34" charset="0"/>
                <a:ea typeface="Calibri" pitchFamily="34" charset="-122"/>
                <a:cs typeface="Calibri" pitchFamily="34" charset="-120"/>
              </a:rPr>
              <a:t>Tech Spec</a:t>
            </a:r>
            <a:endParaRPr lang="en-US" sz="1200" dirty="0"/>
          </a:p>
        </p:txBody>
      </p:sp>
      <p:sp>
        <p:nvSpPr>
          <p:cNvPr id="12" name="Text 10"/>
          <p:cNvSpPr txBox="1"/>
          <p:nvPr/>
        </p:nvSpPr>
        <p:spPr>
          <a:xfrm>
            <a:off x="4686300" y="1828800"/>
            <a:ext cx="480060" cy="640080"/>
          </a:xfrm>
          <a:prstGeom prst="rect">
            <a:avLst/>
          </a:prstGeom>
          <a:noFill/>
          <a:ln/>
        </p:spPr>
        <p:txBody>
          <a:bodyPr wrap="square" lIns="0" tIns="0" rIns="0" bIns="0" rtlCol="0" anchor="ctr"/>
          <a:lstStyle/>
          <a:p>
            <a:pPr marL="0" indent="0" algn="ctr">
              <a:buNone/>
            </a:pPr>
            <a:r>
              <a:rPr lang="en-US" sz="1500" dirty="0">
                <a:solidFill>
                  <a:srgbClr val="00778B"/>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5166360" y="1828800"/>
            <a:ext cx="1828800" cy="640080"/>
          </a:xfrm>
          <a:prstGeom prst="roundRect">
            <a:avLst>
              <a:gd name="adj" fmla="val 11429"/>
            </a:avLst>
          </a:prstGeom>
          <a:solidFill>
            <a:srgbClr val="E3EFEF"/>
          </a:solidFill>
          <a:ln/>
        </p:spPr>
        <p:txBody>
          <a:bodyPr/>
          <a:lstStyle/>
          <a:p>
            <a:endParaRPr lang="en-IN"/>
          </a:p>
        </p:txBody>
      </p:sp>
      <p:sp>
        <p:nvSpPr>
          <p:cNvPr id="14" name="Text 12"/>
          <p:cNvSpPr txBox="1"/>
          <p:nvPr/>
        </p:nvSpPr>
        <p:spPr>
          <a:xfrm>
            <a:off x="5166360" y="1828800"/>
            <a:ext cx="1828800" cy="640080"/>
          </a:xfrm>
          <a:prstGeom prst="rect">
            <a:avLst/>
          </a:prstGeom>
          <a:noFill/>
          <a:ln/>
        </p:spPr>
        <p:txBody>
          <a:bodyPr wrap="square" lIns="0" tIns="0" rIns="0" bIns="0" rtlCol="0" anchor="ctr"/>
          <a:lstStyle/>
          <a:p>
            <a:pPr marL="0" indent="0" algn="ctr">
              <a:buNone/>
            </a:pPr>
            <a:r>
              <a:rPr lang="en-US" sz="1200" b="1" dirty="0">
                <a:solidFill>
                  <a:srgbClr val="003C51"/>
                </a:solidFill>
                <a:latin typeface="Calibri" pitchFamily="34" charset="0"/>
                <a:ea typeface="Calibri" pitchFamily="34" charset="-122"/>
                <a:cs typeface="Calibri" pitchFamily="34" charset="-120"/>
              </a:rPr>
              <a:t>User Stories</a:t>
            </a:r>
            <a:endParaRPr lang="en-US" sz="1200" dirty="0"/>
          </a:p>
        </p:txBody>
      </p:sp>
      <p:sp>
        <p:nvSpPr>
          <p:cNvPr id="15" name="Text 13"/>
          <p:cNvSpPr txBox="1"/>
          <p:nvPr/>
        </p:nvSpPr>
        <p:spPr>
          <a:xfrm>
            <a:off x="6995160" y="1828800"/>
            <a:ext cx="480060" cy="640080"/>
          </a:xfrm>
          <a:prstGeom prst="rect">
            <a:avLst/>
          </a:prstGeom>
          <a:noFill/>
          <a:ln/>
        </p:spPr>
        <p:txBody>
          <a:bodyPr wrap="square" lIns="0" tIns="0" rIns="0" bIns="0" rtlCol="0" anchor="ctr"/>
          <a:lstStyle/>
          <a:p>
            <a:pPr marL="0" indent="0" algn="ctr">
              <a:buNone/>
            </a:pPr>
            <a:r>
              <a:rPr lang="en-US" sz="1500" dirty="0">
                <a:solidFill>
                  <a:srgbClr val="00778B"/>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7475220" y="1828800"/>
            <a:ext cx="1828800" cy="640080"/>
          </a:xfrm>
          <a:prstGeom prst="roundRect">
            <a:avLst>
              <a:gd name="adj" fmla="val 11429"/>
            </a:avLst>
          </a:prstGeom>
          <a:solidFill>
            <a:srgbClr val="E3EFEF"/>
          </a:solidFill>
          <a:ln/>
        </p:spPr>
        <p:txBody>
          <a:bodyPr/>
          <a:lstStyle/>
          <a:p>
            <a:endParaRPr lang="en-IN"/>
          </a:p>
        </p:txBody>
      </p:sp>
      <p:sp>
        <p:nvSpPr>
          <p:cNvPr id="17" name="Text 15"/>
          <p:cNvSpPr txBox="1"/>
          <p:nvPr/>
        </p:nvSpPr>
        <p:spPr>
          <a:xfrm>
            <a:off x="7475220" y="1828800"/>
            <a:ext cx="1828800" cy="640080"/>
          </a:xfrm>
          <a:prstGeom prst="rect">
            <a:avLst/>
          </a:prstGeom>
          <a:noFill/>
          <a:ln/>
        </p:spPr>
        <p:txBody>
          <a:bodyPr wrap="square" lIns="0" tIns="0" rIns="0" bIns="0" rtlCol="0" anchor="ctr"/>
          <a:lstStyle/>
          <a:p>
            <a:pPr marL="0" indent="0" algn="ctr">
              <a:buNone/>
            </a:pPr>
            <a:r>
              <a:rPr lang="en-US" sz="1200" b="1" dirty="0">
                <a:solidFill>
                  <a:srgbClr val="003C51"/>
                </a:solidFill>
                <a:latin typeface="Calibri" pitchFamily="34" charset="0"/>
                <a:ea typeface="Calibri" pitchFamily="34" charset="-122"/>
                <a:cs typeface="Calibri" pitchFamily="34" charset="-120"/>
              </a:rPr>
              <a:t>Acceptance</a:t>
            </a:r>
            <a:endParaRPr lang="en-US" sz="1200" dirty="0"/>
          </a:p>
          <a:p>
            <a:pPr marL="0" indent="0" algn="ctr">
              <a:buNone/>
            </a:pPr>
            <a:r>
              <a:rPr lang="en-US" sz="1200" b="1" dirty="0">
                <a:solidFill>
                  <a:srgbClr val="003C51"/>
                </a:solidFill>
                <a:latin typeface="Calibri" pitchFamily="34" charset="0"/>
                <a:ea typeface="Calibri" pitchFamily="34" charset="-122"/>
                <a:cs typeface="Calibri" pitchFamily="34" charset="-120"/>
              </a:rPr>
              <a:t>Criteria</a:t>
            </a:r>
            <a:endParaRPr lang="en-US" sz="1200" dirty="0"/>
          </a:p>
        </p:txBody>
      </p:sp>
      <p:sp>
        <p:nvSpPr>
          <p:cNvPr id="18" name="Text 16"/>
          <p:cNvSpPr txBox="1"/>
          <p:nvPr/>
        </p:nvSpPr>
        <p:spPr>
          <a:xfrm>
            <a:off x="9304020" y="1828800"/>
            <a:ext cx="480060" cy="640080"/>
          </a:xfrm>
          <a:prstGeom prst="rect">
            <a:avLst/>
          </a:prstGeom>
          <a:noFill/>
          <a:ln/>
        </p:spPr>
        <p:txBody>
          <a:bodyPr wrap="square" lIns="0" tIns="0" rIns="0" bIns="0" rtlCol="0" anchor="ctr"/>
          <a:lstStyle/>
          <a:p>
            <a:pPr marL="0" indent="0" algn="ctr">
              <a:buNone/>
            </a:pPr>
            <a:r>
              <a:rPr lang="en-US" sz="1500" dirty="0">
                <a:solidFill>
                  <a:srgbClr val="00778B"/>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9784080" y="1828800"/>
            <a:ext cx="1828800" cy="640080"/>
          </a:xfrm>
          <a:prstGeom prst="roundRect">
            <a:avLst>
              <a:gd name="adj" fmla="val 11429"/>
            </a:avLst>
          </a:prstGeom>
          <a:solidFill>
            <a:srgbClr val="E3EFEF"/>
          </a:solidFill>
          <a:ln/>
        </p:spPr>
        <p:txBody>
          <a:bodyPr/>
          <a:lstStyle/>
          <a:p>
            <a:endParaRPr lang="en-IN"/>
          </a:p>
        </p:txBody>
      </p:sp>
      <p:sp>
        <p:nvSpPr>
          <p:cNvPr id="20" name="Text 18"/>
          <p:cNvSpPr txBox="1"/>
          <p:nvPr/>
        </p:nvSpPr>
        <p:spPr>
          <a:xfrm>
            <a:off x="9784080" y="1828800"/>
            <a:ext cx="1828800" cy="640080"/>
          </a:xfrm>
          <a:prstGeom prst="rect">
            <a:avLst/>
          </a:prstGeom>
          <a:noFill/>
          <a:ln/>
        </p:spPr>
        <p:txBody>
          <a:bodyPr wrap="square" lIns="0" tIns="0" rIns="0" bIns="0" rtlCol="0" anchor="ctr"/>
          <a:lstStyle/>
          <a:p>
            <a:pPr marL="0" indent="0" algn="ctr">
              <a:buNone/>
            </a:pPr>
            <a:r>
              <a:rPr lang="en-US" sz="1200" b="1" dirty="0">
                <a:solidFill>
                  <a:srgbClr val="003C51"/>
                </a:solidFill>
                <a:latin typeface="Calibri" pitchFamily="34" charset="0"/>
                <a:ea typeface="Calibri" pitchFamily="34" charset="-122"/>
                <a:cs typeface="Calibri" pitchFamily="34" charset="-120"/>
              </a:rPr>
              <a:t>Code Base</a:t>
            </a:r>
            <a:endParaRPr lang="en-US" sz="1200" dirty="0"/>
          </a:p>
        </p:txBody>
      </p:sp>
      <p:sp>
        <p:nvSpPr>
          <p:cNvPr id="21" name="Shape 19"/>
          <p:cNvSpPr/>
          <p:nvPr/>
        </p:nvSpPr>
        <p:spPr>
          <a:xfrm>
            <a:off x="548640" y="2880360"/>
            <a:ext cx="2560320" cy="2148840"/>
          </a:xfrm>
          <a:prstGeom prst="rect">
            <a:avLst/>
          </a:prstGeom>
          <a:solidFill>
            <a:srgbClr val="F2F8F8"/>
          </a:solidFill>
          <a:ln/>
        </p:spPr>
        <p:txBody>
          <a:bodyPr/>
          <a:lstStyle/>
          <a:p>
            <a:endParaRPr lang="en-IN"/>
          </a:p>
        </p:txBody>
      </p:sp>
      <p:sp>
        <p:nvSpPr>
          <p:cNvPr id="22" name="Text 20"/>
          <p:cNvSpPr txBox="1"/>
          <p:nvPr/>
        </p:nvSpPr>
        <p:spPr>
          <a:xfrm>
            <a:off x="731520" y="3108960"/>
            <a:ext cx="2194560" cy="640080"/>
          </a:xfrm>
          <a:prstGeom prst="rect">
            <a:avLst/>
          </a:prstGeom>
          <a:noFill/>
          <a:ln/>
        </p:spPr>
        <p:txBody>
          <a:bodyPr wrap="square" lIns="0" tIns="0" rIns="0" bIns="0" rtlCol="0" anchor="ctr"/>
          <a:lstStyle/>
          <a:p>
            <a:pPr marL="0" indent="0">
              <a:buNone/>
            </a:pPr>
            <a:r>
              <a:rPr lang="en-US" sz="2800" b="1" dirty="0">
                <a:solidFill>
                  <a:srgbClr val="00778B"/>
                </a:solidFill>
                <a:latin typeface="Calibri" pitchFamily="34" charset="0"/>
                <a:ea typeface="Calibri" pitchFamily="34" charset="-122"/>
                <a:cs typeface="Calibri" pitchFamily="34" charset="-120"/>
              </a:rPr>
              <a:t>10</a:t>
            </a:r>
            <a:endParaRPr lang="en-US" sz="2800" dirty="0"/>
          </a:p>
        </p:txBody>
      </p:sp>
      <p:sp>
        <p:nvSpPr>
          <p:cNvPr id="23" name="Text 21"/>
          <p:cNvSpPr txBox="1"/>
          <p:nvPr/>
        </p:nvSpPr>
        <p:spPr>
          <a:xfrm>
            <a:off x="731520" y="3794760"/>
            <a:ext cx="2194560" cy="109728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user stories covering ingestion, normalization, correlation and reporting</a:t>
            </a:r>
            <a:endParaRPr lang="en-US" sz="1150" dirty="0"/>
          </a:p>
        </p:txBody>
      </p:sp>
      <p:sp>
        <p:nvSpPr>
          <p:cNvPr id="24" name="Shape 22"/>
          <p:cNvSpPr/>
          <p:nvPr/>
        </p:nvSpPr>
        <p:spPr>
          <a:xfrm>
            <a:off x="3383280" y="2880360"/>
            <a:ext cx="2560320" cy="2148840"/>
          </a:xfrm>
          <a:prstGeom prst="rect">
            <a:avLst/>
          </a:prstGeom>
          <a:solidFill>
            <a:srgbClr val="F2F8F8"/>
          </a:solidFill>
          <a:ln/>
        </p:spPr>
        <p:txBody>
          <a:bodyPr/>
          <a:lstStyle/>
          <a:p>
            <a:endParaRPr lang="en-IN"/>
          </a:p>
        </p:txBody>
      </p:sp>
      <p:sp>
        <p:nvSpPr>
          <p:cNvPr id="25" name="Text 23"/>
          <p:cNvSpPr txBox="1"/>
          <p:nvPr/>
        </p:nvSpPr>
        <p:spPr>
          <a:xfrm>
            <a:off x="3566160" y="3108960"/>
            <a:ext cx="2194560" cy="640080"/>
          </a:xfrm>
          <a:prstGeom prst="rect">
            <a:avLst/>
          </a:prstGeom>
          <a:noFill/>
          <a:ln/>
        </p:spPr>
        <p:txBody>
          <a:bodyPr wrap="square" lIns="0" tIns="0" rIns="0" bIns="0" rtlCol="0" anchor="ctr"/>
          <a:lstStyle/>
          <a:p>
            <a:pPr marL="0" indent="0">
              <a:buNone/>
            </a:pPr>
            <a:r>
              <a:rPr lang="en-US" sz="2800" b="1" dirty="0">
                <a:solidFill>
                  <a:srgbClr val="00778B"/>
                </a:solidFill>
                <a:latin typeface="Calibri" pitchFamily="34" charset="0"/>
                <a:ea typeface="Calibri" pitchFamily="34" charset="-122"/>
                <a:cs typeface="Calibri" pitchFamily="34" charset="-120"/>
              </a:rPr>
              <a:t>15</a:t>
            </a:r>
            <a:endParaRPr lang="en-US" sz="2800" dirty="0"/>
          </a:p>
        </p:txBody>
      </p:sp>
      <p:sp>
        <p:nvSpPr>
          <p:cNvPr id="26" name="Text 24"/>
          <p:cNvSpPr txBox="1"/>
          <p:nvPr/>
        </p:nvSpPr>
        <p:spPr>
          <a:xfrm>
            <a:off x="3566160" y="3794760"/>
            <a:ext cx="2194560" cy="109728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acceptance tests written in GIVEN / WHEN / THEN format</a:t>
            </a:r>
            <a:endParaRPr lang="en-US" sz="1150" dirty="0"/>
          </a:p>
        </p:txBody>
      </p:sp>
      <p:sp>
        <p:nvSpPr>
          <p:cNvPr id="27" name="Shape 25"/>
          <p:cNvSpPr/>
          <p:nvPr/>
        </p:nvSpPr>
        <p:spPr>
          <a:xfrm>
            <a:off x="6217920" y="2880360"/>
            <a:ext cx="2560320" cy="2148840"/>
          </a:xfrm>
          <a:prstGeom prst="rect">
            <a:avLst/>
          </a:prstGeom>
          <a:solidFill>
            <a:srgbClr val="F2F8F8"/>
          </a:solidFill>
          <a:ln/>
        </p:spPr>
        <p:txBody>
          <a:bodyPr/>
          <a:lstStyle/>
          <a:p>
            <a:endParaRPr lang="en-IN"/>
          </a:p>
        </p:txBody>
      </p:sp>
      <p:sp>
        <p:nvSpPr>
          <p:cNvPr id="28" name="Text 26"/>
          <p:cNvSpPr txBox="1"/>
          <p:nvPr/>
        </p:nvSpPr>
        <p:spPr>
          <a:xfrm>
            <a:off x="6400800" y="3108960"/>
            <a:ext cx="2194560" cy="640080"/>
          </a:xfrm>
          <a:prstGeom prst="rect">
            <a:avLst/>
          </a:prstGeom>
          <a:noFill/>
          <a:ln/>
        </p:spPr>
        <p:txBody>
          <a:bodyPr wrap="square" lIns="0" tIns="0" rIns="0" bIns="0" rtlCol="0" anchor="ctr"/>
          <a:lstStyle/>
          <a:p>
            <a:pPr marL="0" indent="0">
              <a:buNone/>
            </a:pPr>
            <a:r>
              <a:rPr lang="en-US" sz="2800" b="1" dirty="0">
                <a:solidFill>
                  <a:srgbClr val="00778B"/>
                </a:solidFill>
                <a:latin typeface="Calibri" pitchFamily="34" charset="0"/>
                <a:ea typeface="Calibri" pitchFamily="34" charset="-122"/>
                <a:cs typeface="Calibri" pitchFamily="34" charset="-120"/>
              </a:rPr>
              <a:t>20+</a:t>
            </a:r>
            <a:endParaRPr lang="en-US" sz="2800" dirty="0"/>
          </a:p>
        </p:txBody>
      </p:sp>
      <p:sp>
        <p:nvSpPr>
          <p:cNvPr id="29" name="Text 27"/>
          <p:cNvSpPr txBox="1"/>
          <p:nvPr/>
        </p:nvSpPr>
        <p:spPr>
          <a:xfrm>
            <a:off x="6400800" y="3794760"/>
            <a:ext cx="2194560" cy="109728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automated unit and integration tests, all passing</a:t>
            </a:r>
            <a:endParaRPr lang="en-US" sz="1150" dirty="0"/>
          </a:p>
        </p:txBody>
      </p:sp>
      <p:sp>
        <p:nvSpPr>
          <p:cNvPr id="30" name="Shape 28"/>
          <p:cNvSpPr/>
          <p:nvPr/>
        </p:nvSpPr>
        <p:spPr>
          <a:xfrm>
            <a:off x="9052560" y="2880360"/>
            <a:ext cx="2560320" cy="2148840"/>
          </a:xfrm>
          <a:prstGeom prst="rect">
            <a:avLst/>
          </a:prstGeom>
          <a:solidFill>
            <a:srgbClr val="F2F8F8"/>
          </a:solidFill>
          <a:ln/>
        </p:spPr>
        <p:txBody>
          <a:bodyPr/>
          <a:lstStyle/>
          <a:p>
            <a:endParaRPr lang="en-IN"/>
          </a:p>
        </p:txBody>
      </p:sp>
      <p:sp>
        <p:nvSpPr>
          <p:cNvPr id="31" name="Text 29"/>
          <p:cNvSpPr txBox="1"/>
          <p:nvPr/>
        </p:nvSpPr>
        <p:spPr>
          <a:xfrm>
            <a:off x="9235440" y="3108960"/>
            <a:ext cx="2194560" cy="640080"/>
          </a:xfrm>
          <a:prstGeom prst="rect">
            <a:avLst/>
          </a:prstGeom>
          <a:noFill/>
          <a:ln/>
        </p:spPr>
        <p:txBody>
          <a:bodyPr wrap="square" lIns="0" tIns="0" rIns="0" bIns="0" rtlCol="0" anchor="ctr"/>
          <a:lstStyle/>
          <a:p>
            <a:pPr marL="0" indent="0">
              <a:buNone/>
            </a:pPr>
            <a:r>
              <a:rPr lang="en-US" sz="2800" b="1" dirty="0">
                <a:solidFill>
                  <a:srgbClr val="00778B"/>
                </a:solidFill>
                <a:latin typeface="Calibri" pitchFamily="34" charset="0"/>
                <a:ea typeface="Calibri" pitchFamily="34" charset="-122"/>
                <a:cs typeface="Calibri" pitchFamily="34" charset="-120"/>
              </a:rPr>
              <a:t>~1,500</a:t>
            </a:r>
            <a:endParaRPr lang="en-US" sz="2800" dirty="0"/>
          </a:p>
        </p:txBody>
      </p:sp>
      <p:sp>
        <p:nvSpPr>
          <p:cNvPr id="32" name="Text 30"/>
          <p:cNvSpPr txBox="1"/>
          <p:nvPr/>
        </p:nvSpPr>
        <p:spPr>
          <a:xfrm>
            <a:off x="9235440" y="3794760"/>
            <a:ext cx="2194560" cy="1097280"/>
          </a:xfrm>
          <a:prstGeom prst="rect">
            <a:avLst/>
          </a:prstGeom>
          <a:noFill/>
          <a:ln/>
        </p:spPr>
        <p:txBody>
          <a:bodyPr wrap="square" lIns="0" tIns="0" rIns="0" bIns="0" rtlCol="0" anchor="t"/>
          <a:lstStyle/>
          <a:p>
            <a:pPr marL="0" indent="0">
              <a:buNone/>
            </a:pPr>
            <a:r>
              <a:rPr lang="en-US" sz="1150" dirty="0">
                <a:solidFill>
                  <a:srgbClr val="5A5A5A"/>
                </a:solidFill>
                <a:latin typeface="Calibri" pitchFamily="34" charset="0"/>
                <a:ea typeface="Calibri" pitchFamily="34" charset="-122"/>
                <a:cs typeface="Calibri" pitchFamily="34" charset="-120"/>
              </a:rPr>
              <a:t>lines of deterministic Python – parsers, normalization, analysis, 11-node workflow</a:t>
            </a:r>
            <a:endParaRPr lang="en-US" sz="1150" dirty="0"/>
          </a:p>
        </p:txBody>
      </p:sp>
      <p:sp>
        <p:nvSpPr>
          <p:cNvPr id="33" name="Text 31"/>
          <p:cNvSpPr txBox="1"/>
          <p:nvPr/>
        </p:nvSpPr>
        <p:spPr>
          <a:xfrm>
            <a:off x="548640" y="5257800"/>
            <a:ext cx="10515600" cy="365760"/>
          </a:xfrm>
          <a:prstGeom prst="rect">
            <a:avLst/>
          </a:prstGeom>
          <a:noFill/>
          <a:ln/>
        </p:spPr>
        <p:txBody>
          <a:bodyPr wrap="square" lIns="0" tIns="0" rIns="0" bIns="0" rtlCol="0" anchor="ctr"/>
          <a:lstStyle/>
          <a:p>
            <a:pPr marL="0" indent="0">
              <a:buNone/>
            </a:pPr>
            <a:r>
              <a:rPr lang="en-US" sz="1200" i="1" dirty="0">
                <a:solidFill>
                  <a:srgbClr val="8D9AA1"/>
                </a:solidFill>
                <a:latin typeface="Calibri" pitchFamily="34" charset="0"/>
                <a:ea typeface="Calibri" pitchFamily="34" charset="-122"/>
                <a:cs typeface="Calibri" pitchFamily="34" charset="-120"/>
              </a:rPr>
              <a:t>Synthetic data: 13 machines, 2 vendor formats, 60 days of telemetry – built to mirror the real plant's data reality.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52C"/>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8686800" cy="685800"/>
          </a:xfrm>
          <a:prstGeom prst="rect">
            <a:avLst/>
          </a:prstGeom>
          <a:noFill/>
        </p:spPr>
        <p:txBody>
          <a:bodyPr wrap="square" lIns="0" tIns="0" rIns="0" bIns="0" anchor="t">
            <a:spAutoFit/>
          </a:bodyPr>
          <a:lstStyle/>
          <a:p>
            <a:pPr algn="l"/>
            <a:r>
              <a:rPr sz="3000" b="1" i="0">
                <a:solidFill>
                  <a:srgbClr val="FFFFFF"/>
                </a:solidFill>
                <a:latin typeface="Calibri"/>
              </a:rPr>
              <a:t>Every Decision Must Be Logic-Backed</a:t>
            </a:r>
          </a:p>
        </p:txBody>
      </p:sp>
      <p:sp>
        <p:nvSpPr>
          <p:cNvPr id="3" name="TextBox 2"/>
          <p:cNvSpPr txBox="1"/>
          <p:nvPr/>
        </p:nvSpPr>
        <p:spPr>
          <a:xfrm>
            <a:off x="502920" y="914400"/>
            <a:ext cx="8229600" cy="365760"/>
          </a:xfrm>
          <a:prstGeom prst="rect">
            <a:avLst/>
          </a:prstGeom>
          <a:noFill/>
        </p:spPr>
        <p:txBody>
          <a:bodyPr wrap="square" lIns="0" tIns="0" rIns="0" bIns="0" anchor="t">
            <a:spAutoFit/>
          </a:bodyPr>
          <a:lstStyle/>
          <a:p>
            <a:pPr algn="l"/>
            <a:r>
              <a:rPr sz="1300" b="0" i="1">
                <a:solidFill>
                  <a:srgbClr val="9A97B8"/>
                </a:solidFill>
                <a:latin typeface="Calibri"/>
              </a:rPr>
              <a:t>Human-in-the-loop points for the maintenance workflow</a:t>
            </a:r>
          </a:p>
        </p:txBody>
      </p:sp>
      <p:sp>
        <p:nvSpPr>
          <p:cNvPr id="4" name="TextBox 3"/>
          <p:cNvSpPr txBox="1"/>
          <p:nvPr/>
        </p:nvSpPr>
        <p:spPr>
          <a:xfrm>
            <a:off x="502920" y="1554480"/>
            <a:ext cx="4572000" cy="320040"/>
          </a:xfrm>
          <a:prstGeom prst="rect">
            <a:avLst/>
          </a:prstGeom>
          <a:noFill/>
        </p:spPr>
        <p:txBody>
          <a:bodyPr wrap="square" lIns="0" tIns="0" rIns="0" bIns="0" anchor="t">
            <a:spAutoFit/>
          </a:bodyPr>
          <a:lstStyle/>
          <a:p>
            <a:pPr algn="l"/>
            <a:r>
              <a:rPr sz="1500" b="1" i="0">
                <a:solidFill>
                  <a:srgbClr val="FFFFFF"/>
                </a:solidFill>
                <a:latin typeface="Calibri"/>
              </a:rPr>
              <a:t>Record for Each HITL Point</a:t>
            </a:r>
          </a:p>
        </p:txBody>
      </p:sp>
      <p:graphicFrame>
        <p:nvGraphicFramePr>
          <p:cNvPr id="5" name="Table 4"/>
          <p:cNvGraphicFramePr>
            <a:graphicFrameLocks noGrp="1"/>
          </p:cNvGraphicFramePr>
          <p:nvPr/>
        </p:nvGraphicFramePr>
        <p:xfrm>
          <a:off x="502920" y="1965960"/>
          <a:ext cx="4892039" cy="3072384"/>
        </p:xfrm>
        <a:graphic>
          <a:graphicData uri="http://schemas.openxmlformats.org/drawingml/2006/table">
            <a:tbl>
              <a:tblPr firstRow="1"/>
              <a:tblGrid>
                <a:gridCol w="1691640">
                  <a:extLst>
                    <a:ext uri="{9D8B030D-6E8A-4147-A177-3AD203B41FA5}">
                      <a16:colId xmlns:a16="http://schemas.microsoft.com/office/drawing/2014/main" val="20000"/>
                    </a:ext>
                  </a:extLst>
                </a:gridCol>
                <a:gridCol w="3200399">
                  <a:extLst>
                    <a:ext uri="{9D8B030D-6E8A-4147-A177-3AD203B41FA5}">
                      <a16:colId xmlns:a16="http://schemas.microsoft.com/office/drawing/2014/main" val="20001"/>
                    </a:ext>
                  </a:extLst>
                </a:gridCol>
              </a:tblGrid>
              <a:tr h="512064">
                <a:tc>
                  <a:txBody>
                    <a:bodyPr/>
                    <a:lstStyle/>
                    <a:p>
                      <a:r>
                        <a:rPr sz="1200" b="1">
                          <a:solidFill>
                            <a:srgbClr val="FFFFFF"/>
                          </a:solidFill>
                          <a:latin typeface="Calibri"/>
                        </a:rPr>
                        <a:t>Field</a:t>
                      </a:r>
                    </a:p>
                  </a:txBody>
                  <a:tcPr marL="109728" marR="109728" marT="54864" marB="54864" anchor="ctr">
                    <a:solidFill>
                      <a:srgbClr val="24254A"/>
                    </a:solidFill>
                  </a:tcPr>
                </a:tc>
                <a:tc>
                  <a:txBody>
                    <a:bodyPr/>
                    <a:lstStyle/>
                    <a:p>
                      <a:r>
                        <a:rPr sz="1200" b="1">
                          <a:solidFill>
                            <a:srgbClr val="FFFFFF"/>
                          </a:solidFill>
                          <a:latin typeface="Calibri"/>
                        </a:rPr>
                        <a:t>Example</a:t>
                      </a:r>
                    </a:p>
                  </a:txBody>
                  <a:tcPr marL="109728" marR="109728" marT="54864" marB="54864" anchor="ctr">
                    <a:solidFill>
                      <a:srgbClr val="24254A"/>
                    </a:solidFill>
                  </a:tcPr>
                </a:tc>
                <a:extLst>
                  <a:ext uri="{0D108BD9-81ED-4DB2-BD59-A6C34878D82A}">
                    <a16:rowId xmlns:a16="http://schemas.microsoft.com/office/drawing/2014/main" val="10000"/>
                  </a:ext>
                </a:extLst>
              </a:tr>
              <a:tr h="512064">
                <a:tc>
                  <a:txBody>
                    <a:bodyPr/>
                    <a:lstStyle/>
                    <a:p>
                      <a:r>
                        <a:rPr sz="1150" b="0">
                          <a:solidFill>
                            <a:srgbClr val="C9C3F0"/>
                          </a:solidFill>
                          <a:latin typeface="Calibri"/>
                        </a:rPr>
                        <a:t>Decision</a:t>
                      </a:r>
                    </a:p>
                  </a:txBody>
                  <a:tcPr marL="109728" marR="109728" marT="54864" marB="54864" anchor="ctr">
                    <a:solidFill>
                      <a:srgbClr val="1D1F3D"/>
                    </a:solidFill>
                  </a:tcPr>
                </a:tc>
                <a:tc>
                  <a:txBody>
                    <a:bodyPr/>
                    <a:lstStyle/>
                    <a:p>
                      <a:r>
                        <a:rPr sz="1150" b="0">
                          <a:solidFill>
                            <a:srgbClr val="E4E2F3"/>
                          </a:solidFill>
                          <a:latin typeface="Calibri"/>
                        </a:rPr>
                        <a:t>Escalate to maintenance supervisor</a:t>
                      </a:r>
                    </a:p>
                  </a:txBody>
                  <a:tcPr marL="109728" marR="109728" marT="54864" marB="54864" anchor="ctr">
                    <a:solidFill>
                      <a:srgbClr val="1D1F3D"/>
                    </a:solidFill>
                  </a:tcPr>
                </a:tc>
                <a:extLst>
                  <a:ext uri="{0D108BD9-81ED-4DB2-BD59-A6C34878D82A}">
                    <a16:rowId xmlns:a16="http://schemas.microsoft.com/office/drawing/2014/main" val="10001"/>
                  </a:ext>
                </a:extLst>
              </a:tr>
              <a:tr h="512064">
                <a:tc>
                  <a:txBody>
                    <a:bodyPr/>
                    <a:lstStyle/>
                    <a:p>
                      <a:r>
                        <a:rPr sz="1150" b="0">
                          <a:solidFill>
                            <a:srgbClr val="C9C3F0"/>
                          </a:solidFill>
                          <a:latin typeface="Calibri"/>
                        </a:rPr>
                        <a:t>Trigger</a:t>
                      </a:r>
                    </a:p>
                  </a:txBody>
                  <a:tcPr marL="109728" marR="109728" marT="54864" marB="54864" anchor="ctr">
                    <a:solidFill>
                      <a:srgbClr val="1D1F3D"/>
                    </a:solidFill>
                  </a:tcPr>
                </a:tc>
                <a:tc>
                  <a:txBody>
                    <a:bodyPr/>
                    <a:lstStyle/>
                    <a:p>
                      <a:r>
                        <a:rPr sz="1150" b="0">
                          <a:solidFill>
                            <a:srgbClr val="E4E2F3"/>
                          </a:solidFill>
                          <a:latin typeface="Calibri"/>
                        </a:rPr>
                        <a:t>Critical anomaly: spindle temp &gt; threshold</a:t>
                      </a:r>
                    </a:p>
                  </a:txBody>
                  <a:tcPr marL="109728" marR="109728" marT="54864" marB="54864" anchor="ctr">
                    <a:solidFill>
                      <a:srgbClr val="1D1F3D"/>
                    </a:solidFill>
                  </a:tcPr>
                </a:tc>
                <a:extLst>
                  <a:ext uri="{0D108BD9-81ED-4DB2-BD59-A6C34878D82A}">
                    <a16:rowId xmlns:a16="http://schemas.microsoft.com/office/drawing/2014/main" val="10002"/>
                  </a:ext>
                </a:extLst>
              </a:tr>
              <a:tr h="512064">
                <a:tc>
                  <a:txBody>
                    <a:bodyPr/>
                    <a:lstStyle/>
                    <a:p>
                      <a:r>
                        <a:rPr sz="1150" b="0">
                          <a:solidFill>
                            <a:srgbClr val="C9C3F0"/>
                          </a:solidFill>
                          <a:latin typeface="Calibri"/>
                        </a:rPr>
                        <a:t>Oversight mode</a:t>
                      </a:r>
                    </a:p>
                  </a:txBody>
                  <a:tcPr marL="109728" marR="109728" marT="54864" marB="54864" anchor="ctr">
                    <a:solidFill>
                      <a:srgbClr val="1D1F3D"/>
                    </a:solidFill>
                  </a:tcPr>
                </a:tc>
                <a:tc>
                  <a:txBody>
                    <a:bodyPr/>
                    <a:lstStyle/>
                    <a:p>
                      <a:r>
                        <a:rPr sz="1150" b="0">
                          <a:solidFill>
                            <a:srgbClr val="E4E2F3"/>
                          </a:solidFill>
                          <a:latin typeface="Calibri"/>
                        </a:rPr>
                        <a:t>Human-in-the-loop</a:t>
                      </a:r>
                    </a:p>
                  </a:txBody>
                  <a:tcPr marL="109728" marR="109728" marT="54864" marB="54864" anchor="ctr">
                    <a:solidFill>
                      <a:srgbClr val="1D1F3D"/>
                    </a:solidFill>
                  </a:tcPr>
                </a:tc>
                <a:extLst>
                  <a:ext uri="{0D108BD9-81ED-4DB2-BD59-A6C34878D82A}">
                    <a16:rowId xmlns:a16="http://schemas.microsoft.com/office/drawing/2014/main" val="10003"/>
                  </a:ext>
                </a:extLst>
              </a:tr>
              <a:tr h="512064">
                <a:tc>
                  <a:txBody>
                    <a:bodyPr/>
                    <a:lstStyle/>
                    <a:p>
                      <a:r>
                        <a:rPr sz="1150" b="0">
                          <a:solidFill>
                            <a:srgbClr val="C9C3F0"/>
                          </a:solidFill>
                          <a:latin typeface="Calibri"/>
                        </a:rPr>
                        <a:t>Risk if absent</a:t>
                      </a:r>
                    </a:p>
                  </a:txBody>
                  <a:tcPr marL="109728" marR="109728" marT="54864" marB="54864" anchor="ctr">
                    <a:solidFill>
                      <a:srgbClr val="1D1F3D"/>
                    </a:solidFill>
                  </a:tcPr>
                </a:tc>
                <a:tc>
                  <a:txBody>
                    <a:bodyPr/>
                    <a:lstStyle/>
                    <a:p>
                      <a:r>
                        <a:rPr sz="1150" b="0">
                          <a:solidFill>
                            <a:srgbClr val="E4E2F3"/>
                          </a:solidFill>
                          <a:latin typeface="Calibri"/>
                        </a:rPr>
                        <a:t>Unapproved maintenance shutdown</a:t>
                      </a:r>
                    </a:p>
                  </a:txBody>
                  <a:tcPr marL="109728" marR="109728" marT="54864" marB="54864" anchor="ctr">
                    <a:solidFill>
                      <a:srgbClr val="1D1F3D"/>
                    </a:solidFill>
                  </a:tcPr>
                </a:tc>
                <a:extLst>
                  <a:ext uri="{0D108BD9-81ED-4DB2-BD59-A6C34878D82A}">
                    <a16:rowId xmlns:a16="http://schemas.microsoft.com/office/drawing/2014/main" val="10004"/>
                  </a:ext>
                </a:extLst>
              </a:tr>
              <a:tr h="512064">
                <a:tc>
                  <a:txBody>
                    <a:bodyPr/>
                    <a:lstStyle/>
                    <a:p>
                      <a:r>
                        <a:rPr sz="1150" b="0">
                          <a:solidFill>
                            <a:srgbClr val="C9C3F0"/>
                          </a:solidFill>
                          <a:latin typeface="Calibri"/>
                        </a:rPr>
                        <a:t>Evidence produced</a:t>
                      </a:r>
                    </a:p>
                  </a:txBody>
                  <a:tcPr marL="109728" marR="109728" marT="54864" marB="54864" anchor="ctr">
                    <a:solidFill>
                      <a:srgbClr val="1D1F3D"/>
                    </a:solidFill>
                  </a:tcPr>
                </a:tc>
                <a:tc>
                  <a:txBody>
                    <a:bodyPr/>
                    <a:lstStyle/>
                    <a:p>
                      <a:r>
                        <a:rPr sz="1150" b="0">
                          <a:solidFill>
                            <a:srgbClr val="E4E2F3"/>
                          </a:solidFill>
                          <a:latin typeface="Calibri"/>
                        </a:rPr>
                        <a:t>Signed approval record in audit log</a:t>
                      </a:r>
                    </a:p>
                  </a:txBody>
                  <a:tcPr marL="109728" marR="109728" marT="54864" marB="54864" anchor="ctr">
                    <a:solidFill>
                      <a:srgbClr val="1D1F3D"/>
                    </a:solidFill>
                  </a:tcPr>
                </a:tc>
                <a:extLst>
                  <a:ext uri="{0D108BD9-81ED-4DB2-BD59-A6C34878D82A}">
                    <a16:rowId xmlns:a16="http://schemas.microsoft.com/office/drawing/2014/main" val="10005"/>
                  </a:ext>
                </a:extLst>
              </a:tr>
            </a:tbl>
          </a:graphicData>
        </a:graphic>
      </p:graphicFrame>
      <p:cxnSp>
        <p:nvCxnSpPr>
          <p:cNvPr id="6" name="Connector 5"/>
          <p:cNvCxnSpPr/>
          <p:nvPr/>
        </p:nvCxnSpPr>
        <p:spPr>
          <a:xfrm>
            <a:off x="502920" y="2478024"/>
            <a:ext cx="4892039" cy="0"/>
          </a:xfrm>
          <a:prstGeom prst="line">
            <a:avLst/>
          </a:prstGeom>
          <a:ln w="6350">
            <a:solidFill>
              <a:srgbClr val="3A3B5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2990088"/>
            <a:ext cx="4892039" cy="0"/>
          </a:xfrm>
          <a:prstGeom prst="line">
            <a:avLst/>
          </a:prstGeom>
          <a:ln w="6350">
            <a:solidFill>
              <a:srgbClr val="3A3B5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02920" y="3502152"/>
            <a:ext cx="4892039" cy="0"/>
          </a:xfrm>
          <a:prstGeom prst="line">
            <a:avLst/>
          </a:prstGeom>
          <a:ln w="6350">
            <a:solidFill>
              <a:srgbClr val="3A3B5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2920" y="4014216"/>
            <a:ext cx="4892039" cy="0"/>
          </a:xfrm>
          <a:prstGeom prst="line">
            <a:avLst/>
          </a:prstGeom>
          <a:ln w="6350">
            <a:solidFill>
              <a:srgbClr val="3A3B5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2920" y="4526280"/>
            <a:ext cx="4892039" cy="0"/>
          </a:xfrm>
          <a:prstGeom prst="line">
            <a:avLst/>
          </a:prstGeom>
          <a:ln w="6350">
            <a:solidFill>
              <a:srgbClr val="3A3B5E"/>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02920" y="1965960"/>
            <a:ext cx="4892040" cy="3072384"/>
          </a:xfrm>
          <a:prstGeom prst="rect">
            <a:avLst/>
          </a:prstGeom>
          <a:noFill/>
          <a:ln w="12700">
            <a:solidFill>
              <a:srgbClr val="3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03720" y="1234440"/>
            <a:ext cx="3291840" cy="320040"/>
          </a:xfrm>
          <a:prstGeom prst="rect">
            <a:avLst/>
          </a:prstGeom>
          <a:noFill/>
        </p:spPr>
        <p:txBody>
          <a:bodyPr wrap="square" lIns="0" tIns="0" rIns="0" bIns="0" anchor="t">
            <a:spAutoFit/>
          </a:bodyPr>
          <a:lstStyle/>
          <a:p>
            <a:pPr algn="ctr"/>
            <a:r>
              <a:rPr sz="1500" b="1" i="0">
                <a:solidFill>
                  <a:srgbClr val="FFFFFF"/>
                </a:solidFill>
                <a:latin typeface="Calibri"/>
              </a:rPr>
              <a:t>Placement Test</a:t>
            </a:r>
          </a:p>
        </p:txBody>
      </p:sp>
      <p:sp>
        <p:nvSpPr>
          <p:cNvPr id="13" name="TextBox 12"/>
          <p:cNvSpPr txBox="1"/>
          <p:nvPr/>
        </p:nvSpPr>
        <p:spPr>
          <a:xfrm>
            <a:off x="6583680" y="1938528"/>
            <a:ext cx="2354580" cy="502920"/>
          </a:xfrm>
          <a:prstGeom prst="rect">
            <a:avLst/>
          </a:prstGeom>
          <a:noFill/>
        </p:spPr>
        <p:txBody>
          <a:bodyPr wrap="square" lIns="0" tIns="0" rIns="0" bIns="0" anchor="t">
            <a:spAutoFit/>
          </a:bodyPr>
          <a:lstStyle/>
          <a:p>
            <a:pPr algn="l"/>
            <a:r>
              <a:rPr sz="1200" b="1" i="0">
                <a:solidFill>
                  <a:srgbClr val="FFFFFF"/>
                </a:solidFill>
                <a:latin typeface="Calibri"/>
              </a:rPr>
              <a:t>HUMAN ON THE LOOP /
SAMPLING</a:t>
            </a:r>
          </a:p>
        </p:txBody>
      </p:sp>
      <p:sp>
        <p:nvSpPr>
          <p:cNvPr id="14" name="Oval 13"/>
          <p:cNvSpPr/>
          <p:nvPr/>
        </p:nvSpPr>
        <p:spPr>
          <a:xfrm>
            <a:off x="7070598" y="2441448"/>
            <a:ext cx="1380743" cy="1380743"/>
          </a:xfrm>
          <a:prstGeom prst="ellipse">
            <a:avLst/>
          </a:prstGeom>
          <a:solidFill>
            <a:srgbClr val="242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human_sampling.png"/>
          <p:cNvPicPr>
            <a:picLocks noChangeAspect="1"/>
          </p:cNvPicPr>
          <p:nvPr/>
        </p:nvPicPr>
        <p:blipFill>
          <a:blip r:embed="rId2"/>
          <a:stretch>
            <a:fillRect/>
          </a:stretch>
        </p:blipFill>
        <p:spPr>
          <a:xfrm>
            <a:off x="7235190" y="2606040"/>
            <a:ext cx="1051560" cy="1051560"/>
          </a:xfrm>
          <a:prstGeom prst="rect">
            <a:avLst/>
          </a:prstGeom>
        </p:spPr>
      </p:pic>
      <p:sp>
        <p:nvSpPr>
          <p:cNvPr id="16" name="TextBox 15"/>
          <p:cNvSpPr txBox="1"/>
          <p:nvPr/>
        </p:nvSpPr>
        <p:spPr>
          <a:xfrm>
            <a:off x="9212580" y="1938528"/>
            <a:ext cx="2354580" cy="502920"/>
          </a:xfrm>
          <a:prstGeom prst="rect">
            <a:avLst/>
          </a:prstGeom>
          <a:noFill/>
        </p:spPr>
        <p:txBody>
          <a:bodyPr wrap="square" lIns="0" tIns="0" rIns="0" bIns="0" anchor="t">
            <a:spAutoFit/>
          </a:bodyPr>
          <a:lstStyle/>
          <a:p>
            <a:pPr algn="l"/>
            <a:r>
              <a:rPr sz="1200" b="1" i="0">
                <a:solidFill>
                  <a:srgbClr val="FFFFFF"/>
                </a:solidFill>
                <a:latin typeface="Calibri"/>
              </a:rPr>
              <a:t>HUMAN APPROVES
BEFORE ACTION</a:t>
            </a:r>
          </a:p>
        </p:txBody>
      </p:sp>
      <p:sp>
        <p:nvSpPr>
          <p:cNvPr id="17" name="Oval 16"/>
          <p:cNvSpPr/>
          <p:nvPr/>
        </p:nvSpPr>
        <p:spPr>
          <a:xfrm>
            <a:off x="9699498" y="2441448"/>
            <a:ext cx="1380743" cy="1380743"/>
          </a:xfrm>
          <a:prstGeom prst="ellipse">
            <a:avLst/>
          </a:prstGeom>
          <a:solidFill>
            <a:srgbClr val="242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human_approve.png"/>
          <p:cNvPicPr>
            <a:picLocks noChangeAspect="1"/>
          </p:cNvPicPr>
          <p:nvPr/>
        </p:nvPicPr>
        <p:blipFill>
          <a:blip r:embed="rId3"/>
          <a:stretch>
            <a:fillRect/>
          </a:stretch>
        </p:blipFill>
        <p:spPr>
          <a:xfrm>
            <a:off x="9864090" y="2606040"/>
            <a:ext cx="1051560" cy="1051560"/>
          </a:xfrm>
          <a:prstGeom prst="rect">
            <a:avLst/>
          </a:prstGeom>
        </p:spPr>
      </p:pic>
      <p:sp>
        <p:nvSpPr>
          <p:cNvPr id="19" name="TextBox 18"/>
          <p:cNvSpPr txBox="1"/>
          <p:nvPr/>
        </p:nvSpPr>
        <p:spPr>
          <a:xfrm>
            <a:off x="6583680" y="3813048"/>
            <a:ext cx="2354580" cy="502920"/>
          </a:xfrm>
          <a:prstGeom prst="rect">
            <a:avLst/>
          </a:prstGeom>
          <a:noFill/>
        </p:spPr>
        <p:txBody>
          <a:bodyPr wrap="square" lIns="0" tIns="0" rIns="0" bIns="0" anchor="t">
            <a:spAutoFit/>
          </a:bodyPr>
          <a:lstStyle/>
          <a:p>
            <a:pPr algn="l"/>
            <a:r>
              <a:rPr sz="1200" b="1" i="0">
                <a:solidFill>
                  <a:srgbClr val="FFFFFF"/>
                </a:solidFill>
                <a:latin typeface="Calibri"/>
              </a:rPr>
              <a:t>AUTOMATE AND
MONITOR</a:t>
            </a:r>
          </a:p>
        </p:txBody>
      </p:sp>
      <p:sp>
        <p:nvSpPr>
          <p:cNvPr id="20" name="Oval 19"/>
          <p:cNvSpPr/>
          <p:nvPr/>
        </p:nvSpPr>
        <p:spPr>
          <a:xfrm>
            <a:off x="7070598" y="4315968"/>
            <a:ext cx="1380743" cy="1380743"/>
          </a:xfrm>
          <a:prstGeom prst="ellipse">
            <a:avLst/>
          </a:prstGeom>
          <a:solidFill>
            <a:srgbClr val="242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automate_1.png"/>
          <p:cNvPicPr>
            <a:picLocks noChangeAspect="1"/>
          </p:cNvPicPr>
          <p:nvPr/>
        </p:nvPicPr>
        <p:blipFill>
          <a:blip r:embed="rId4"/>
          <a:stretch>
            <a:fillRect/>
          </a:stretch>
        </p:blipFill>
        <p:spPr>
          <a:xfrm>
            <a:off x="7235190" y="4480559"/>
            <a:ext cx="1051560" cy="1051560"/>
          </a:xfrm>
          <a:prstGeom prst="rect">
            <a:avLst/>
          </a:prstGeom>
        </p:spPr>
      </p:pic>
      <p:sp>
        <p:nvSpPr>
          <p:cNvPr id="22" name="TextBox 21"/>
          <p:cNvSpPr txBox="1"/>
          <p:nvPr/>
        </p:nvSpPr>
        <p:spPr>
          <a:xfrm>
            <a:off x="9212580" y="3813048"/>
            <a:ext cx="2354580" cy="502920"/>
          </a:xfrm>
          <a:prstGeom prst="rect">
            <a:avLst/>
          </a:prstGeom>
          <a:noFill/>
        </p:spPr>
        <p:txBody>
          <a:bodyPr wrap="square" lIns="0" tIns="0" rIns="0" bIns="0" anchor="t">
            <a:spAutoFit/>
          </a:bodyPr>
          <a:lstStyle/>
          <a:p>
            <a:pPr algn="l"/>
            <a:r>
              <a:rPr sz="1200" b="1" i="0">
                <a:solidFill>
                  <a:srgbClr val="FFFFFF"/>
                </a:solidFill>
                <a:latin typeface="Calibri"/>
              </a:rPr>
              <a:t>AUTOMATE AND
MONITOR</a:t>
            </a:r>
          </a:p>
        </p:txBody>
      </p:sp>
      <p:sp>
        <p:nvSpPr>
          <p:cNvPr id="23" name="Oval 22"/>
          <p:cNvSpPr/>
          <p:nvPr/>
        </p:nvSpPr>
        <p:spPr>
          <a:xfrm>
            <a:off x="9699498" y="4315968"/>
            <a:ext cx="1380743" cy="1380743"/>
          </a:xfrm>
          <a:prstGeom prst="ellipse">
            <a:avLst/>
          </a:prstGeom>
          <a:solidFill>
            <a:srgbClr val="242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automate_1.png"/>
          <p:cNvPicPr>
            <a:picLocks noChangeAspect="1"/>
          </p:cNvPicPr>
          <p:nvPr/>
        </p:nvPicPr>
        <p:blipFill>
          <a:blip r:embed="rId4"/>
          <a:stretch>
            <a:fillRect/>
          </a:stretch>
        </p:blipFill>
        <p:spPr>
          <a:xfrm>
            <a:off x="9864090" y="4480559"/>
            <a:ext cx="1051560" cy="1051560"/>
          </a:xfrm>
          <a:prstGeom prst="rect">
            <a:avLst/>
          </a:prstGeom>
        </p:spPr>
      </p:pic>
      <p:cxnSp>
        <p:nvCxnSpPr>
          <p:cNvPr id="25" name="Connector 24"/>
          <p:cNvCxnSpPr/>
          <p:nvPr/>
        </p:nvCxnSpPr>
        <p:spPr>
          <a:xfrm>
            <a:off x="9075420" y="1828800"/>
            <a:ext cx="0" cy="3749040"/>
          </a:xfrm>
          <a:prstGeom prst="line">
            <a:avLst/>
          </a:prstGeom>
          <a:ln w="12700">
            <a:solidFill>
              <a:srgbClr val="3A3B5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446520" y="3703320"/>
            <a:ext cx="5257800" cy="0"/>
          </a:xfrm>
          <a:prstGeom prst="line">
            <a:avLst/>
          </a:prstGeom>
          <a:ln w="12700">
            <a:solidFill>
              <a:srgbClr val="3A3B5E"/>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446520" y="1828800"/>
            <a:ext cx="5257800" cy="3749039"/>
          </a:xfrm>
          <a:prstGeom prst="rect">
            <a:avLst/>
          </a:prstGeom>
          <a:noFill/>
          <a:ln w="12700">
            <a:solidFill>
              <a:srgbClr val="3A3B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1536192"/>
            <a:ext cx="914400" cy="256032"/>
          </a:xfrm>
          <a:prstGeom prst="rect">
            <a:avLst/>
          </a:prstGeom>
          <a:noFill/>
        </p:spPr>
        <p:txBody>
          <a:bodyPr wrap="square" lIns="0" tIns="0" rIns="0" bIns="0" anchor="t">
            <a:spAutoFit/>
          </a:bodyPr>
          <a:lstStyle/>
          <a:p>
            <a:pPr algn="l"/>
            <a:r>
              <a:rPr sz="1000" b="0" i="0">
                <a:solidFill>
                  <a:srgbClr val="9A97B8"/>
                </a:solidFill>
                <a:latin typeface="Calibri"/>
              </a:rPr>
              <a:t>high</a:t>
            </a:r>
          </a:p>
        </p:txBody>
      </p:sp>
      <p:sp>
        <p:nvSpPr>
          <p:cNvPr id="29" name="TextBox 28"/>
          <p:cNvSpPr txBox="1"/>
          <p:nvPr/>
        </p:nvSpPr>
        <p:spPr>
          <a:xfrm>
            <a:off x="6446520" y="5614416"/>
            <a:ext cx="914400" cy="256032"/>
          </a:xfrm>
          <a:prstGeom prst="rect">
            <a:avLst/>
          </a:prstGeom>
          <a:noFill/>
        </p:spPr>
        <p:txBody>
          <a:bodyPr wrap="square" lIns="0" tIns="0" rIns="0" bIns="0" anchor="t">
            <a:spAutoFit/>
          </a:bodyPr>
          <a:lstStyle/>
          <a:p>
            <a:pPr algn="l"/>
            <a:r>
              <a:rPr sz="1000" b="0" i="0">
                <a:solidFill>
                  <a:srgbClr val="9A97B8"/>
                </a:solidFill>
                <a:latin typeface="Calibri"/>
              </a:rPr>
              <a:t>low</a:t>
            </a:r>
          </a:p>
        </p:txBody>
      </p:sp>
      <p:sp>
        <p:nvSpPr>
          <p:cNvPr id="30" name="TextBox 29"/>
          <p:cNvSpPr txBox="1"/>
          <p:nvPr/>
        </p:nvSpPr>
        <p:spPr>
          <a:xfrm rot="16200000">
            <a:off x="5943600" y="3154679"/>
            <a:ext cx="1097280" cy="365760"/>
          </a:xfrm>
          <a:prstGeom prst="rect">
            <a:avLst/>
          </a:prstGeom>
          <a:noFill/>
        </p:spPr>
        <p:txBody>
          <a:bodyPr wrap="none" lIns="0" tIns="0" rIns="0" bIns="0">
            <a:spAutoFit/>
          </a:bodyPr>
          <a:lstStyle/>
          <a:p>
            <a:pPr algn="ctr"/>
            <a:r>
              <a:rPr sz="1200" b="1">
                <a:solidFill>
                  <a:srgbClr val="FFFFFF"/>
                </a:solidFill>
                <a:latin typeface="Calibri"/>
              </a:rPr>
              <a:t>Impact</a:t>
            </a:r>
          </a:p>
        </p:txBody>
      </p:sp>
      <p:sp>
        <p:nvSpPr>
          <p:cNvPr id="31" name="TextBox 30"/>
          <p:cNvSpPr txBox="1"/>
          <p:nvPr/>
        </p:nvSpPr>
        <p:spPr>
          <a:xfrm>
            <a:off x="6446520" y="5888736"/>
            <a:ext cx="1280160" cy="274320"/>
          </a:xfrm>
          <a:prstGeom prst="rect">
            <a:avLst/>
          </a:prstGeom>
          <a:noFill/>
        </p:spPr>
        <p:txBody>
          <a:bodyPr wrap="square" lIns="0" tIns="0" rIns="0" bIns="0" anchor="t">
            <a:spAutoFit/>
          </a:bodyPr>
          <a:lstStyle/>
          <a:p>
            <a:pPr algn="l"/>
            <a:r>
              <a:rPr sz="1000" b="0" i="0">
                <a:solidFill>
                  <a:srgbClr val="9A97B8"/>
                </a:solidFill>
                <a:latin typeface="Calibri"/>
              </a:rPr>
              <a:t>reversible</a:t>
            </a:r>
          </a:p>
        </p:txBody>
      </p:sp>
      <p:sp>
        <p:nvSpPr>
          <p:cNvPr id="32" name="TextBox 31"/>
          <p:cNvSpPr txBox="1"/>
          <p:nvPr/>
        </p:nvSpPr>
        <p:spPr>
          <a:xfrm>
            <a:off x="10424160" y="5888736"/>
            <a:ext cx="1280160" cy="274320"/>
          </a:xfrm>
          <a:prstGeom prst="rect">
            <a:avLst/>
          </a:prstGeom>
          <a:noFill/>
        </p:spPr>
        <p:txBody>
          <a:bodyPr wrap="square" lIns="0" tIns="0" rIns="0" bIns="0" anchor="t">
            <a:spAutoFit/>
          </a:bodyPr>
          <a:lstStyle/>
          <a:p>
            <a:pPr algn="r"/>
            <a:r>
              <a:rPr sz="1000" b="0" i="0">
                <a:solidFill>
                  <a:srgbClr val="9A97B8"/>
                </a:solidFill>
                <a:latin typeface="Calibri"/>
              </a:rPr>
              <a:t>irreversible</a:t>
            </a:r>
          </a:p>
        </p:txBody>
      </p:sp>
      <p:sp>
        <p:nvSpPr>
          <p:cNvPr id="33" name="TextBox 32"/>
          <p:cNvSpPr txBox="1"/>
          <p:nvPr/>
        </p:nvSpPr>
        <p:spPr>
          <a:xfrm>
            <a:off x="6446520" y="6144768"/>
            <a:ext cx="5257800" cy="320040"/>
          </a:xfrm>
          <a:prstGeom prst="rect">
            <a:avLst/>
          </a:prstGeom>
          <a:noFill/>
        </p:spPr>
        <p:txBody>
          <a:bodyPr wrap="square" lIns="0" tIns="0" rIns="0" bIns="0" anchor="t">
            <a:spAutoFit/>
          </a:bodyPr>
          <a:lstStyle/>
          <a:p>
            <a:pPr algn="ctr"/>
            <a:r>
              <a:rPr sz="1300" b="1" i="0">
                <a:solidFill>
                  <a:srgbClr val="FFFFFF"/>
                </a:solidFill>
                <a:latin typeface="Calibri"/>
              </a:rPr>
              <a:t>Reversibility</a:t>
            </a:r>
          </a:p>
        </p:txBody>
      </p:sp>
      <p:sp>
        <p:nvSpPr>
          <p:cNvPr id="34" name="TextBox 33"/>
          <p:cNvSpPr txBox="1"/>
          <p:nvPr/>
        </p:nvSpPr>
        <p:spPr>
          <a:xfrm>
            <a:off x="502920" y="6455664"/>
            <a:ext cx="5486400" cy="274320"/>
          </a:xfrm>
          <a:prstGeom prst="rect">
            <a:avLst/>
          </a:prstGeom>
          <a:noFill/>
        </p:spPr>
        <p:txBody>
          <a:bodyPr wrap="square" lIns="0" tIns="0" rIns="0" bIns="0" anchor="t">
            <a:spAutoFit/>
          </a:bodyPr>
          <a:lstStyle/>
          <a:p>
            <a:pPr algn="l"/>
            <a:r>
              <a:rPr sz="900" b="0" i="0">
                <a:solidFill>
                  <a:srgbClr val="9A97B8"/>
                </a:solidFill>
                <a:latin typeface="Calibri"/>
              </a:rPr>
              <a:t>UST  |  FDE Capstone Program</a:t>
            </a:r>
          </a:p>
        </p:txBody>
      </p:sp>
      <p:sp>
        <p:nvSpPr>
          <p:cNvPr id="35" name="TextBox 34"/>
          <p:cNvSpPr txBox="1"/>
          <p:nvPr/>
        </p:nvSpPr>
        <p:spPr>
          <a:xfrm>
            <a:off x="11137265" y="6455664"/>
            <a:ext cx="548640" cy="274320"/>
          </a:xfrm>
          <a:prstGeom prst="rect">
            <a:avLst/>
          </a:prstGeom>
          <a:noFill/>
        </p:spPr>
        <p:txBody>
          <a:bodyPr wrap="square" lIns="0" tIns="0" rIns="0" bIns="0" anchor="t">
            <a:spAutoFit/>
          </a:bodyPr>
          <a:lstStyle/>
          <a:p>
            <a:pPr algn="r"/>
            <a:r>
              <a:rPr sz="900" b="0" i="0">
                <a:solidFill>
                  <a:srgbClr val="9A97B8"/>
                </a:solidFill>
                <a:latin typeface="Calibri"/>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DEFEND</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Solution demo</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Running the prototype end to end on synthetic plant data</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09</a:t>
            </a:r>
            <a:endParaRPr lang="en-US" sz="900" dirty="0"/>
          </a:p>
        </p:txBody>
      </p:sp>
      <p:sp>
        <p:nvSpPr>
          <p:cNvPr id="7" name="Shape 5"/>
          <p:cNvSpPr/>
          <p:nvPr/>
        </p:nvSpPr>
        <p:spPr>
          <a:xfrm>
            <a:off x="548640" y="1783080"/>
            <a:ext cx="10149840" cy="502920"/>
          </a:xfrm>
          <a:prstGeom prst="rect">
            <a:avLst/>
          </a:prstGeom>
          <a:solidFill>
            <a:srgbClr val="003C51"/>
          </a:solidFill>
          <a:ln/>
        </p:spPr>
        <p:txBody>
          <a:bodyPr/>
          <a:lstStyle/>
          <a:p>
            <a:endParaRPr lang="en-IN"/>
          </a:p>
        </p:txBody>
      </p:sp>
      <p:sp>
        <p:nvSpPr>
          <p:cNvPr id="8" name="Text 6"/>
          <p:cNvSpPr txBox="1"/>
          <p:nvPr/>
        </p:nvSpPr>
        <p:spPr>
          <a:xfrm>
            <a:off x="777240" y="1783080"/>
            <a:ext cx="9692640" cy="502920"/>
          </a:xfrm>
          <a:prstGeom prst="rect">
            <a:avLst/>
          </a:prstGeom>
          <a:noFill/>
          <a:ln/>
        </p:spPr>
        <p:txBody>
          <a:bodyPr wrap="square" lIns="0" tIns="0" rIns="0" bIns="0" rtlCol="0" anchor="ctr"/>
          <a:lstStyle/>
          <a:p>
            <a:pPr marL="0" indent="0">
              <a:buNone/>
            </a:pPr>
            <a:r>
              <a:rPr lang="en-US" sz="1300" dirty="0">
                <a:solidFill>
                  <a:srgbClr val="12B28F"/>
                </a:solidFill>
                <a:latin typeface="Consolas" pitchFamily="34" charset="0"/>
                <a:ea typeface="Consolas" pitchFamily="34" charset="-122"/>
                <a:cs typeface="Consolas" pitchFamily="34" charset="-120"/>
              </a:rPr>
              <a:t>$  python -m maintenance_agent analyze ./sample_data</a:t>
            </a:r>
            <a:endParaRPr lang="en-US" sz="1300" dirty="0"/>
          </a:p>
        </p:txBody>
      </p:sp>
      <p:sp>
        <p:nvSpPr>
          <p:cNvPr id="9" name="Shape 7"/>
          <p:cNvSpPr/>
          <p:nvPr/>
        </p:nvSpPr>
        <p:spPr>
          <a:xfrm>
            <a:off x="548640" y="2514600"/>
            <a:ext cx="2366010" cy="1051560"/>
          </a:xfrm>
          <a:prstGeom prst="rect">
            <a:avLst/>
          </a:prstGeom>
          <a:solidFill>
            <a:srgbClr val="F2F8F8"/>
          </a:solidFill>
          <a:ln/>
        </p:spPr>
        <p:txBody>
          <a:bodyPr/>
          <a:lstStyle/>
          <a:p>
            <a:endParaRPr lang="en-IN"/>
          </a:p>
        </p:txBody>
      </p:sp>
      <p:sp>
        <p:nvSpPr>
          <p:cNvPr id="10" name="Text 8"/>
          <p:cNvSpPr txBox="1"/>
          <p:nvPr/>
        </p:nvSpPr>
        <p:spPr>
          <a:xfrm>
            <a:off x="548640" y="2606040"/>
            <a:ext cx="2366010" cy="502920"/>
          </a:xfrm>
          <a:prstGeom prst="rect">
            <a:avLst/>
          </a:prstGeom>
          <a:noFill/>
          <a:ln/>
        </p:spPr>
        <p:txBody>
          <a:bodyPr wrap="square" lIns="0" tIns="0" rIns="0" bIns="0" rtlCol="0" anchor="ctr"/>
          <a:lstStyle/>
          <a:p>
            <a:pPr marL="0" indent="0" algn="ctr">
              <a:buNone/>
            </a:pPr>
            <a:r>
              <a:rPr lang="en-US" sz="2400" b="1" dirty="0">
                <a:solidFill>
                  <a:srgbClr val="003C51"/>
                </a:solidFill>
                <a:latin typeface="Calibri" pitchFamily="34" charset="0"/>
                <a:ea typeface="Calibri" pitchFamily="34" charset="-122"/>
                <a:cs typeface="Calibri" pitchFamily="34" charset="-120"/>
              </a:rPr>
              <a:t>11</a:t>
            </a:r>
            <a:endParaRPr lang="en-US" sz="2400" dirty="0"/>
          </a:p>
        </p:txBody>
      </p:sp>
      <p:sp>
        <p:nvSpPr>
          <p:cNvPr id="11" name="Text 9"/>
          <p:cNvSpPr txBox="1"/>
          <p:nvPr/>
        </p:nvSpPr>
        <p:spPr>
          <a:xfrm>
            <a:off x="640080" y="3136392"/>
            <a:ext cx="2183130" cy="411480"/>
          </a:xfrm>
          <a:prstGeom prst="rect">
            <a:avLst/>
          </a:prstGeom>
          <a:noFill/>
          <a:ln/>
        </p:spPr>
        <p:txBody>
          <a:bodyPr wrap="square" lIns="0" tIns="0" rIns="0" bIns="0" rtlCol="0" anchor="ctr"/>
          <a:lstStyle/>
          <a:p>
            <a:pPr marL="0" indent="0" algn="ctr">
              <a:buNone/>
            </a:pPr>
            <a:r>
              <a:rPr lang="en-US" sz="1000" dirty="0">
                <a:solidFill>
                  <a:srgbClr val="5A5A5A"/>
                </a:solidFill>
                <a:latin typeface="Calibri" pitchFamily="34" charset="0"/>
                <a:ea typeface="Calibri" pitchFamily="34" charset="-122"/>
                <a:cs typeface="Calibri" pitchFamily="34" charset="-120"/>
              </a:rPr>
              <a:t>machines</a:t>
            </a:r>
            <a:endParaRPr lang="en-US" sz="1000" dirty="0"/>
          </a:p>
          <a:p>
            <a:pPr marL="0" indent="0" algn="ctr">
              <a:buNone/>
            </a:pPr>
            <a:r>
              <a:rPr lang="en-US" sz="1000" dirty="0">
                <a:solidFill>
                  <a:srgbClr val="5A5A5A"/>
                </a:solidFill>
                <a:latin typeface="Calibri" pitchFamily="34" charset="0"/>
                <a:ea typeface="Calibri" pitchFamily="34" charset="-122"/>
                <a:cs typeface="Calibri" pitchFamily="34" charset="-120"/>
              </a:rPr>
              <a:t>analyzed</a:t>
            </a:r>
            <a:endParaRPr lang="en-US" sz="1000" dirty="0"/>
          </a:p>
        </p:txBody>
      </p:sp>
      <p:sp>
        <p:nvSpPr>
          <p:cNvPr id="12" name="Shape 10"/>
          <p:cNvSpPr/>
          <p:nvPr/>
        </p:nvSpPr>
        <p:spPr>
          <a:xfrm>
            <a:off x="3143250" y="2514600"/>
            <a:ext cx="2366010" cy="1051560"/>
          </a:xfrm>
          <a:prstGeom prst="rect">
            <a:avLst/>
          </a:prstGeom>
          <a:solidFill>
            <a:srgbClr val="F2F8F8"/>
          </a:solidFill>
          <a:ln/>
        </p:spPr>
        <p:txBody>
          <a:bodyPr/>
          <a:lstStyle/>
          <a:p>
            <a:endParaRPr lang="en-IN"/>
          </a:p>
        </p:txBody>
      </p:sp>
      <p:sp>
        <p:nvSpPr>
          <p:cNvPr id="13" name="Text 11"/>
          <p:cNvSpPr txBox="1"/>
          <p:nvPr/>
        </p:nvSpPr>
        <p:spPr>
          <a:xfrm>
            <a:off x="3143250" y="2606040"/>
            <a:ext cx="2366010" cy="502920"/>
          </a:xfrm>
          <a:prstGeom prst="rect">
            <a:avLst/>
          </a:prstGeom>
          <a:noFill/>
          <a:ln/>
        </p:spPr>
        <p:txBody>
          <a:bodyPr wrap="square" lIns="0" tIns="0" rIns="0" bIns="0" rtlCol="0" anchor="ctr"/>
          <a:lstStyle/>
          <a:p>
            <a:pPr marL="0" indent="0" algn="ctr">
              <a:buNone/>
            </a:pPr>
            <a:r>
              <a:rPr lang="en-US" sz="2400" b="1" dirty="0">
                <a:solidFill>
                  <a:srgbClr val="003C51"/>
                </a:solidFill>
                <a:latin typeface="Calibri" pitchFamily="34" charset="0"/>
                <a:ea typeface="Calibri" pitchFamily="34" charset="-122"/>
                <a:cs typeface="Calibri" pitchFamily="34" charset="-120"/>
              </a:rPr>
              <a:t>20</a:t>
            </a:r>
            <a:endParaRPr lang="en-US" sz="2400" dirty="0"/>
          </a:p>
        </p:txBody>
      </p:sp>
      <p:sp>
        <p:nvSpPr>
          <p:cNvPr id="14" name="Text 12"/>
          <p:cNvSpPr txBox="1"/>
          <p:nvPr/>
        </p:nvSpPr>
        <p:spPr>
          <a:xfrm>
            <a:off x="3234690" y="3136392"/>
            <a:ext cx="2183130" cy="411480"/>
          </a:xfrm>
          <a:prstGeom prst="rect">
            <a:avLst/>
          </a:prstGeom>
          <a:noFill/>
          <a:ln/>
        </p:spPr>
        <p:txBody>
          <a:bodyPr wrap="square" lIns="0" tIns="0" rIns="0" bIns="0" rtlCol="0" anchor="ctr"/>
          <a:lstStyle/>
          <a:p>
            <a:pPr marL="0" indent="0" algn="ctr">
              <a:buNone/>
            </a:pPr>
            <a:r>
              <a:rPr lang="en-US" sz="1000" dirty="0">
                <a:solidFill>
                  <a:srgbClr val="5A5A5A"/>
                </a:solidFill>
                <a:latin typeface="Calibri" pitchFamily="34" charset="0"/>
                <a:ea typeface="Calibri" pitchFamily="34" charset="-122"/>
                <a:cs typeface="Calibri" pitchFamily="34" charset="-120"/>
              </a:rPr>
              <a:t>failure events</a:t>
            </a:r>
            <a:endParaRPr lang="en-US" sz="1000" dirty="0"/>
          </a:p>
          <a:p>
            <a:pPr marL="0" indent="0" algn="ctr">
              <a:buNone/>
            </a:pPr>
            <a:r>
              <a:rPr lang="en-US" sz="1000" dirty="0">
                <a:solidFill>
                  <a:srgbClr val="5A5A5A"/>
                </a:solidFill>
                <a:latin typeface="Calibri" pitchFamily="34" charset="0"/>
                <a:ea typeface="Calibri" pitchFamily="34" charset="-122"/>
                <a:cs typeface="Calibri" pitchFamily="34" charset="-120"/>
              </a:rPr>
              <a:t>identified</a:t>
            </a:r>
            <a:endParaRPr lang="en-US" sz="1000" dirty="0"/>
          </a:p>
        </p:txBody>
      </p:sp>
      <p:sp>
        <p:nvSpPr>
          <p:cNvPr id="15" name="Shape 13"/>
          <p:cNvSpPr/>
          <p:nvPr/>
        </p:nvSpPr>
        <p:spPr>
          <a:xfrm>
            <a:off x="5737860" y="2514600"/>
            <a:ext cx="2366010" cy="1051560"/>
          </a:xfrm>
          <a:prstGeom prst="rect">
            <a:avLst/>
          </a:prstGeom>
          <a:solidFill>
            <a:srgbClr val="F2F8F8"/>
          </a:solidFill>
          <a:ln/>
        </p:spPr>
        <p:txBody>
          <a:bodyPr/>
          <a:lstStyle/>
          <a:p>
            <a:endParaRPr lang="en-IN"/>
          </a:p>
        </p:txBody>
      </p:sp>
      <p:sp>
        <p:nvSpPr>
          <p:cNvPr id="16" name="Text 14"/>
          <p:cNvSpPr txBox="1"/>
          <p:nvPr/>
        </p:nvSpPr>
        <p:spPr>
          <a:xfrm>
            <a:off x="5737860" y="2606040"/>
            <a:ext cx="2366010" cy="502920"/>
          </a:xfrm>
          <a:prstGeom prst="rect">
            <a:avLst/>
          </a:prstGeom>
          <a:noFill/>
          <a:ln/>
        </p:spPr>
        <p:txBody>
          <a:bodyPr wrap="square" lIns="0" tIns="0" rIns="0" bIns="0" rtlCol="0" anchor="ctr"/>
          <a:lstStyle/>
          <a:p>
            <a:pPr marL="0" indent="0" algn="ctr">
              <a:buNone/>
            </a:pPr>
            <a:r>
              <a:rPr lang="en-US" sz="2400" b="1" dirty="0">
                <a:solidFill>
                  <a:srgbClr val="003C51"/>
                </a:solidFill>
                <a:latin typeface="Calibri" pitchFamily="34" charset="0"/>
                <a:ea typeface="Calibri" pitchFamily="34" charset="-122"/>
                <a:cs typeface="Calibri" pitchFamily="34" charset="-120"/>
              </a:rPr>
              <a:t>2</a:t>
            </a:r>
            <a:endParaRPr lang="en-US" sz="2400" dirty="0"/>
          </a:p>
        </p:txBody>
      </p:sp>
      <p:sp>
        <p:nvSpPr>
          <p:cNvPr id="17" name="Text 15"/>
          <p:cNvSpPr txBox="1"/>
          <p:nvPr/>
        </p:nvSpPr>
        <p:spPr>
          <a:xfrm>
            <a:off x="5829300" y="3136392"/>
            <a:ext cx="2183130" cy="411480"/>
          </a:xfrm>
          <a:prstGeom prst="rect">
            <a:avLst/>
          </a:prstGeom>
          <a:noFill/>
          <a:ln/>
        </p:spPr>
        <p:txBody>
          <a:bodyPr wrap="square" lIns="0" tIns="0" rIns="0" bIns="0" rtlCol="0" anchor="ctr"/>
          <a:lstStyle/>
          <a:p>
            <a:pPr marL="0" indent="0" algn="ctr">
              <a:buNone/>
            </a:pPr>
            <a:r>
              <a:rPr lang="en-US" sz="1000" dirty="0">
                <a:solidFill>
                  <a:srgbClr val="5A5A5A"/>
                </a:solidFill>
                <a:latin typeface="Calibri" pitchFamily="34" charset="0"/>
                <a:ea typeface="Calibri" pitchFamily="34" charset="-122"/>
                <a:cs typeface="Calibri" pitchFamily="34" charset="-120"/>
              </a:rPr>
              <a:t>candidate signals</a:t>
            </a:r>
            <a:endParaRPr lang="en-US" sz="1000" dirty="0"/>
          </a:p>
          <a:p>
            <a:pPr marL="0" indent="0" algn="ctr">
              <a:buNone/>
            </a:pPr>
            <a:r>
              <a:rPr lang="en-US" sz="1000" dirty="0">
                <a:solidFill>
                  <a:srgbClr val="5A5A5A"/>
                </a:solidFill>
                <a:latin typeface="Calibri" pitchFamily="34" charset="0"/>
                <a:ea typeface="Calibri" pitchFamily="34" charset="-122"/>
                <a:cs typeface="Calibri" pitchFamily="34" charset="-120"/>
              </a:rPr>
              <a:t>ranked by confidence</a:t>
            </a:r>
            <a:endParaRPr lang="en-US" sz="1000" dirty="0"/>
          </a:p>
        </p:txBody>
      </p:sp>
      <p:sp>
        <p:nvSpPr>
          <p:cNvPr id="18" name="Shape 16"/>
          <p:cNvSpPr/>
          <p:nvPr/>
        </p:nvSpPr>
        <p:spPr>
          <a:xfrm>
            <a:off x="8332470" y="2514600"/>
            <a:ext cx="2366010" cy="1051560"/>
          </a:xfrm>
          <a:prstGeom prst="rect">
            <a:avLst/>
          </a:prstGeom>
          <a:solidFill>
            <a:srgbClr val="F2F8F8"/>
          </a:solidFill>
          <a:ln/>
        </p:spPr>
        <p:txBody>
          <a:bodyPr/>
          <a:lstStyle/>
          <a:p>
            <a:endParaRPr lang="en-IN"/>
          </a:p>
        </p:txBody>
      </p:sp>
      <p:sp>
        <p:nvSpPr>
          <p:cNvPr id="19" name="Text 17"/>
          <p:cNvSpPr txBox="1"/>
          <p:nvPr/>
        </p:nvSpPr>
        <p:spPr>
          <a:xfrm>
            <a:off x="8332470" y="2606040"/>
            <a:ext cx="2366010" cy="502920"/>
          </a:xfrm>
          <a:prstGeom prst="rect">
            <a:avLst/>
          </a:prstGeom>
          <a:noFill/>
          <a:ln/>
        </p:spPr>
        <p:txBody>
          <a:bodyPr wrap="square" lIns="0" tIns="0" rIns="0" bIns="0" rtlCol="0" anchor="ctr"/>
          <a:lstStyle/>
          <a:p>
            <a:pPr marL="0" indent="0" algn="ctr">
              <a:buNone/>
            </a:pPr>
            <a:r>
              <a:rPr lang="en-US" sz="2400" b="1" dirty="0">
                <a:solidFill>
                  <a:srgbClr val="003C51"/>
                </a:solidFill>
                <a:latin typeface="Calibri" pitchFamily="34" charset="0"/>
                <a:ea typeface="Calibri" pitchFamily="34" charset="-122"/>
                <a:cs typeface="Calibri" pitchFamily="34" charset="-120"/>
              </a:rPr>
              <a:t>&lt; 1 sec</a:t>
            </a:r>
            <a:endParaRPr lang="en-US" sz="2400" dirty="0"/>
          </a:p>
        </p:txBody>
      </p:sp>
      <p:sp>
        <p:nvSpPr>
          <p:cNvPr id="20" name="Text 18"/>
          <p:cNvSpPr txBox="1"/>
          <p:nvPr/>
        </p:nvSpPr>
        <p:spPr>
          <a:xfrm>
            <a:off x="8423910" y="3136392"/>
            <a:ext cx="2183130" cy="411480"/>
          </a:xfrm>
          <a:prstGeom prst="rect">
            <a:avLst/>
          </a:prstGeom>
          <a:noFill/>
          <a:ln/>
        </p:spPr>
        <p:txBody>
          <a:bodyPr wrap="square" lIns="0" tIns="0" rIns="0" bIns="0" rtlCol="0" anchor="ctr"/>
          <a:lstStyle/>
          <a:p>
            <a:pPr marL="0" indent="0" algn="ctr">
              <a:buNone/>
            </a:pPr>
            <a:r>
              <a:rPr lang="en-US" sz="1000" dirty="0">
                <a:solidFill>
                  <a:srgbClr val="5A5A5A"/>
                </a:solidFill>
                <a:latin typeface="Calibri" pitchFamily="34" charset="0"/>
                <a:ea typeface="Calibri" pitchFamily="34" charset="-122"/>
                <a:cs typeface="Calibri" pitchFamily="34" charset="-120"/>
              </a:rPr>
              <a:t>end-to-end</a:t>
            </a:r>
            <a:endParaRPr lang="en-US" sz="1000" dirty="0"/>
          </a:p>
          <a:p>
            <a:pPr marL="0" indent="0" algn="ctr">
              <a:buNone/>
            </a:pPr>
            <a:r>
              <a:rPr lang="en-US" sz="1000" dirty="0">
                <a:solidFill>
                  <a:srgbClr val="5A5A5A"/>
                </a:solidFill>
                <a:latin typeface="Calibri" pitchFamily="34" charset="0"/>
                <a:ea typeface="Calibri" pitchFamily="34" charset="-122"/>
                <a:cs typeface="Calibri" pitchFamily="34" charset="-120"/>
              </a:rPr>
              <a:t>runtime</a:t>
            </a:r>
            <a:endParaRPr lang="en-US" sz="1000" dirty="0"/>
          </a:p>
        </p:txBody>
      </p:sp>
      <p:sp>
        <p:nvSpPr>
          <p:cNvPr id="21" name="Shape 19"/>
          <p:cNvSpPr/>
          <p:nvPr/>
        </p:nvSpPr>
        <p:spPr>
          <a:xfrm>
            <a:off x="548640" y="3886200"/>
            <a:ext cx="10149840" cy="685800"/>
          </a:xfrm>
          <a:prstGeom prst="rect">
            <a:avLst/>
          </a:prstGeom>
          <a:solidFill>
            <a:srgbClr val="F2F8F8"/>
          </a:solidFill>
          <a:ln/>
        </p:spPr>
        <p:txBody>
          <a:bodyPr/>
          <a:lstStyle/>
          <a:p>
            <a:endParaRPr lang="en-IN"/>
          </a:p>
        </p:txBody>
      </p:sp>
      <p:sp>
        <p:nvSpPr>
          <p:cNvPr id="22" name="Text 20"/>
          <p:cNvSpPr txBox="1"/>
          <p:nvPr/>
        </p:nvSpPr>
        <p:spPr>
          <a:xfrm>
            <a:off x="777240" y="3886200"/>
            <a:ext cx="5029200" cy="6858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Anomaly in pressure</a:t>
            </a:r>
            <a:endParaRPr lang="en-US" sz="1400" dirty="0"/>
          </a:p>
        </p:txBody>
      </p:sp>
      <p:sp>
        <p:nvSpPr>
          <p:cNvPr id="23" name="Text 21"/>
          <p:cNvSpPr txBox="1"/>
          <p:nvPr/>
        </p:nvSpPr>
        <p:spPr>
          <a:xfrm>
            <a:off x="5943600" y="3886200"/>
            <a:ext cx="2377440" cy="685800"/>
          </a:xfrm>
          <a:prstGeom prst="rect">
            <a:avLst/>
          </a:prstGeom>
          <a:noFill/>
          <a:ln/>
        </p:spPr>
        <p:txBody>
          <a:bodyPr wrap="square" lIns="0" tIns="0" rIns="0" bIns="0" rtlCol="0" anchor="ctr"/>
          <a:lstStyle/>
          <a:p>
            <a:pPr marL="0" indent="0">
              <a:buNone/>
            </a:pPr>
            <a:r>
              <a:rPr lang="en-US" sz="1200" dirty="0">
                <a:solidFill>
                  <a:srgbClr val="5A5A5A"/>
                </a:solidFill>
                <a:latin typeface="Calibri" pitchFamily="34" charset="0"/>
                <a:ea typeface="Calibri" pitchFamily="34" charset="-122"/>
                <a:cs typeface="Calibri" pitchFamily="34" charset="-120"/>
              </a:rPr>
              <a:t>21 / 20 failures</a:t>
            </a:r>
            <a:endParaRPr lang="en-US" sz="1200" dirty="0"/>
          </a:p>
        </p:txBody>
      </p:sp>
      <p:sp>
        <p:nvSpPr>
          <p:cNvPr id="24" name="Shape 22"/>
          <p:cNvSpPr/>
          <p:nvPr/>
        </p:nvSpPr>
        <p:spPr>
          <a:xfrm>
            <a:off x="8869680" y="4069080"/>
            <a:ext cx="1554480" cy="310896"/>
          </a:xfrm>
          <a:prstGeom prst="roundRect">
            <a:avLst>
              <a:gd name="adj" fmla="val 17647"/>
            </a:avLst>
          </a:prstGeom>
          <a:solidFill>
            <a:srgbClr val="D8F3EC"/>
          </a:solidFill>
          <a:ln/>
        </p:spPr>
        <p:txBody>
          <a:bodyPr/>
          <a:lstStyle/>
          <a:p>
            <a:endParaRPr lang="en-IN"/>
          </a:p>
        </p:txBody>
      </p:sp>
      <p:sp>
        <p:nvSpPr>
          <p:cNvPr id="25" name="Text 23"/>
          <p:cNvSpPr txBox="1"/>
          <p:nvPr/>
        </p:nvSpPr>
        <p:spPr>
          <a:xfrm>
            <a:off x="8869680" y="4069080"/>
            <a:ext cx="1554480" cy="310896"/>
          </a:xfrm>
          <a:prstGeom prst="rect">
            <a:avLst/>
          </a:prstGeom>
          <a:noFill/>
          <a:ln/>
        </p:spPr>
        <p:txBody>
          <a:bodyPr wrap="square" lIns="0" tIns="0" rIns="0" bIns="0" rtlCol="0" anchor="ctr"/>
          <a:lstStyle/>
          <a:p>
            <a:pPr marL="0" indent="0" algn="ctr">
              <a:buNone/>
            </a:pPr>
            <a:r>
              <a:rPr lang="en-US" sz="1100" b="1" dirty="0">
                <a:solidFill>
                  <a:srgbClr val="003C51"/>
                </a:solidFill>
                <a:latin typeface="Calibri" pitchFamily="34" charset="0"/>
                <a:ea typeface="Calibri" pitchFamily="34" charset="-122"/>
                <a:cs typeface="Calibri" pitchFamily="34" charset="-120"/>
              </a:rPr>
              <a:t>Strong signal</a:t>
            </a:r>
            <a:endParaRPr lang="en-US" sz="1100" dirty="0"/>
          </a:p>
        </p:txBody>
      </p:sp>
      <p:sp>
        <p:nvSpPr>
          <p:cNvPr id="26" name="Shape 24"/>
          <p:cNvSpPr/>
          <p:nvPr/>
        </p:nvSpPr>
        <p:spPr>
          <a:xfrm>
            <a:off x="548640" y="4754880"/>
            <a:ext cx="10149840" cy="685800"/>
          </a:xfrm>
          <a:prstGeom prst="rect">
            <a:avLst/>
          </a:prstGeom>
          <a:solidFill>
            <a:srgbClr val="F2F8F8"/>
          </a:solidFill>
          <a:ln/>
        </p:spPr>
        <p:txBody>
          <a:bodyPr/>
          <a:lstStyle/>
          <a:p>
            <a:endParaRPr lang="en-IN"/>
          </a:p>
        </p:txBody>
      </p:sp>
      <p:sp>
        <p:nvSpPr>
          <p:cNvPr id="27" name="Text 25"/>
          <p:cNvSpPr txBox="1"/>
          <p:nvPr/>
        </p:nvSpPr>
        <p:spPr>
          <a:xfrm>
            <a:off x="777240" y="4754880"/>
            <a:ext cx="5029200" cy="6858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Anomaly in spindle temperature</a:t>
            </a:r>
            <a:endParaRPr lang="en-US" sz="1400" dirty="0"/>
          </a:p>
        </p:txBody>
      </p:sp>
      <p:sp>
        <p:nvSpPr>
          <p:cNvPr id="28" name="Text 26"/>
          <p:cNvSpPr txBox="1"/>
          <p:nvPr/>
        </p:nvSpPr>
        <p:spPr>
          <a:xfrm>
            <a:off x="5943600" y="4754880"/>
            <a:ext cx="2377440" cy="685800"/>
          </a:xfrm>
          <a:prstGeom prst="rect">
            <a:avLst/>
          </a:prstGeom>
          <a:noFill/>
          <a:ln/>
        </p:spPr>
        <p:txBody>
          <a:bodyPr wrap="square" lIns="0" tIns="0" rIns="0" bIns="0" rtlCol="0" anchor="ctr"/>
          <a:lstStyle/>
          <a:p>
            <a:pPr marL="0" indent="0">
              <a:buNone/>
            </a:pPr>
            <a:r>
              <a:rPr lang="en-US" sz="1200" dirty="0">
                <a:solidFill>
                  <a:srgbClr val="5A5A5A"/>
                </a:solidFill>
                <a:latin typeface="Calibri" pitchFamily="34" charset="0"/>
                <a:ea typeface="Calibri" pitchFamily="34" charset="-122"/>
                <a:cs typeface="Calibri" pitchFamily="34" charset="-120"/>
              </a:rPr>
              <a:t>9 / 20 failures</a:t>
            </a:r>
            <a:endParaRPr lang="en-US" sz="1200" dirty="0"/>
          </a:p>
        </p:txBody>
      </p:sp>
      <p:sp>
        <p:nvSpPr>
          <p:cNvPr id="29" name="Shape 27"/>
          <p:cNvSpPr/>
          <p:nvPr/>
        </p:nvSpPr>
        <p:spPr>
          <a:xfrm>
            <a:off x="8869680" y="4937760"/>
            <a:ext cx="1554480" cy="310896"/>
          </a:xfrm>
          <a:prstGeom prst="roundRect">
            <a:avLst>
              <a:gd name="adj" fmla="val 17647"/>
            </a:avLst>
          </a:prstGeom>
          <a:solidFill>
            <a:srgbClr val="E3EFEF"/>
          </a:solidFill>
          <a:ln/>
        </p:spPr>
        <p:txBody>
          <a:bodyPr/>
          <a:lstStyle/>
          <a:p>
            <a:endParaRPr lang="en-IN"/>
          </a:p>
        </p:txBody>
      </p:sp>
      <p:sp>
        <p:nvSpPr>
          <p:cNvPr id="30" name="Text 28"/>
          <p:cNvSpPr txBox="1"/>
          <p:nvPr/>
        </p:nvSpPr>
        <p:spPr>
          <a:xfrm>
            <a:off x="8869680" y="4937760"/>
            <a:ext cx="1554480" cy="310896"/>
          </a:xfrm>
          <a:prstGeom prst="rect">
            <a:avLst/>
          </a:prstGeom>
          <a:noFill/>
          <a:ln/>
        </p:spPr>
        <p:txBody>
          <a:bodyPr wrap="square" lIns="0" tIns="0" rIns="0" bIns="0" rtlCol="0" anchor="ctr"/>
          <a:lstStyle/>
          <a:p>
            <a:pPr marL="0" indent="0" algn="ctr">
              <a:buNone/>
            </a:pPr>
            <a:r>
              <a:rPr lang="en-US" sz="1100" b="1" dirty="0">
                <a:solidFill>
                  <a:srgbClr val="003C51"/>
                </a:solidFill>
                <a:latin typeface="Calibri" pitchFamily="34" charset="0"/>
                <a:ea typeface="Calibri" pitchFamily="34" charset="-122"/>
                <a:cs typeface="Calibri" pitchFamily="34" charset="-120"/>
              </a:rPr>
              <a:t>Moderate signal</a:t>
            </a:r>
            <a:endParaRPr lang="en-US" sz="1100" dirty="0"/>
          </a:p>
        </p:txBody>
      </p:sp>
      <p:sp>
        <p:nvSpPr>
          <p:cNvPr id="31" name="Text 29"/>
          <p:cNvSpPr txBox="1"/>
          <p:nvPr/>
        </p:nvSpPr>
        <p:spPr>
          <a:xfrm>
            <a:off x="548640" y="5623560"/>
            <a:ext cx="10058400" cy="365760"/>
          </a:xfrm>
          <a:prstGeom prst="rect">
            <a:avLst/>
          </a:prstGeom>
          <a:noFill/>
          <a:ln/>
        </p:spPr>
        <p:txBody>
          <a:bodyPr wrap="square" lIns="0" tIns="0" rIns="0" bIns="0" rtlCol="0" anchor="ctr"/>
          <a:lstStyle/>
          <a:p>
            <a:pPr marL="0" indent="0">
              <a:buNone/>
            </a:pPr>
            <a:r>
              <a:rPr lang="en-US" sz="1150" i="1" dirty="0">
                <a:solidFill>
                  <a:srgbClr val="8D9AA1"/>
                </a:solidFill>
                <a:latin typeface="Calibri" pitchFamily="34" charset="0"/>
                <a:ea typeface="Calibri" pitchFamily="34" charset="-122"/>
                <a:cs typeface="Calibri" pitchFamily="34" charset="-120"/>
              </a:rPr>
              <a:t>Reported as candidate contributing factors with supporting evidence – correlation, not proof of root cause.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Cost &amp; scaling path</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Rule-based today, a clear budget for AI-enhancement tomorrow</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10</a:t>
            </a:r>
            <a:endParaRPr lang="en-US" sz="900" dirty="0"/>
          </a:p>
        </p:txBody>
      </p:sp>
      <p:sp>
        <p:nvSpPr>
          <p:cNvPr id="7" name="Text 5"/>
          <p:cNvSpPr txBox="1"/>
          <p:nvPr/>
        </p:nvSpPr>
        <p:spPr>
          <a:xfrm>
            <a:off x="548640" y="1783080"/>
            <a:ext cx="4937760" cy="320040"/>
          </a:xfrm>
          <a:prstGeom prst="rect">
            <a:avLst/>
          </a:prstGeom>
          <a:noFill/>
          <a:ln/>
        </p:spPr>
        <p:txBody>
          <a:bodyPr wrap="square" lIns="0" tIns="0" rIns="0" bIns="0" rtlCol="0" anchor="ctr"/>
          <a:lstStyle/>
          <a:p>
            <a:pPr marL="0" indent="0">
              <a:buNone/>
            </a:pPr>
            <a:r>
              <a:rPr lang="en-US" sz="1400" b="1" dirty="0">
                <a:solidFill>
                  <a:srgbClr val="003C51"/>
                </a:solidFill>
                <a:latin typeface="Calibri" pitchFamily="34" charset="0"/>
                <a:ea typeface="Calibri" pitchFamily="34" charset="-122"/>
                <a:cs typeface="Calibri" pitchFamily="34" charset="-120"/>
              </a:rPr>
              <a:t>V1  –  Today (rule-based)</a:t>
            </a:r>
            <a:endParaRPr lang="en-US" sz="1400" dirty="0"/>
          </a:p>
        </p:txBody>
      </p:sp>
      <p:sp>
        <p:nvSpPr>
          <p:cNvPr id="8" name="Shape 6"/>
          <p:cNvSpPr/>
          <p:nvPr/>
        </p:nvSpPr>
        <p:spPr>
          <a:xfrm>
            <a:off x="548640" y="2148840"/>
            <a:ext cx="4937760" cy="1737360"/>
          </a:xfrm>
          <a:prstGeom prst="rect">
            <a:avLst/>
          </a:prstGeom>
          <a:solidFill>
            <a:srgbClr val="F2F8F8"/>
          </a:solidFill>
          <a:ln/>
        </p:spPr>
        <p:txBody>
          <a:bodyPr/>
          <a:lstStyle/>
          <a:p>
            <a:endParaRPr lang="en-IN"/>
          </a:p>
        </p:txBody>
      </p:sp>
      <p:sp>
        <p:nvSpPr>
          <p:cNvPr id="9" name="Text 7"/>
          <p:cNvSpPr txBox="1"/>
          <p:nvPr/>
        </p:nvSpPr>
        <p:spPr>
          <a:xfrm>
            <a:off x="822960" y="2331720"/>
            <a:ext cx="1828800" cy="548640"/>
          </a:xfrm>
          <a:prstGeom prst="rect">
            <a:avLst/>
          </a:prstGeom>
          <a:noFill/>
          <a:ln/>
        </p:spPr>
        <p:txBody>
          <a:bodyPr wrap="square" lIns="0" tIns="0" rIns="0" bIns="0" rtlCol="0" anchor="ctr"/>
          <a:lstStyle/>
          <a:p>
            <a:pPr marL="0" indent="0">
              <a:buNone/>
            </a:pPr>
            <a:r>
              <a:rPr lang="en-US" sz="3000" b="1" dirty="0">
                <a:solidFill>
                  <a:srgbClr val="12B28F"/>
                </a:solidFill>
                <a:latin typeface="Calibri" pitchFamily="34" charset="0"/>
                <a:ea typeface="Calibri" pitchFamily="34" charset="-122"/>
                <a:cs typeface="Calibri" pitchFamily="34" charset="-120"/>
              </a:rPr>
              <a:t>$0</a:t>
            </a:r>
            <a:endParaRPr lang="en-US" sz="3000" dirty="0"/>
          </a:p>
        </p:txBody>
      </p:sp>
      <p:sp>
        <p:nvSpPr>
          <p:cNvPr id="10" name="Text 8"/>
          <p:cNvSpPr txBox="1"/>
          <p:nvPr/>
        </p:nvSpPr>
        <p:spPr>
          <a:xfrm>
            <a:off x="822960" y="2880360"/>
            <a:ext cx="4389120" cy="274320"/>
          </a:xfrm>
          <a:prstGeom prst="rect">
            <a:avLst/>
          </a:prstGeom>
          <a:noFill/>
          <a:ln/>
        </p:spPr>
        <p:txBody>
          <a:bodyPr wrap="square" lIns="0" tIns="0" rIns="0" bIns="0" rtlCol="0" anchor="ctr"/>
          <a:lstStyle/>
          <a:p>
            <a:pPr marL="0" indent="0">
              <a:buNone/>
            </a:pPr>
            <a:r>
              <a:rPr lang="en-US" sz="1100" dirty="0">
                <a:solidFill>
                  <a:srgbClr val="5A5A5A"/>
                </a:solidFill>
                <a:latin typeface="Calibri" pitchFamily="34" charset="0"/>
                <a:ea typeface="Calibri" pitchFamily="34" charset="-122"/>
                <a:cs typeface="Calibri" pitchFamily="34" charset="-120"/>
              </a:rPr>
              <a:t>AI / LLM cost per request</a:t>
            </a:r>
            <a:endParaRPr lang="en-US" sz="1100" dirty="0"/>
          </a:p>
        </p:txBody>
      </p:sp>
      <p:sp>
        <p:nvSpPr>
          <p:cNvPr id="11" name="Text 9"/>
          <p:cNvSpPr txBox="1"/>
          <p:nvPr/>
        </p:nvSpPr>
        <p:spPr>
          <a:xfrm>
            <a:off x="822960" y="3246120"/>
            <a:ext cx="4389120" cy="54864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Infrastructure only: $50–150 / month</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No cloud dependency, works air-gapped</a:t>
            </a:r>
            <a:endParaRPr lang="en-US" sz="1200" dirty="0"/>
          </a:p>
        </p:txBody>
      </p:sp>
      <p:sp>
        <p:nvSpPr>
          <p:cNvPr id="12" name="Text 10"/>
          <p:cNvSpPr txBox="1"/>
          <p:nvPr/>
        </p:nvSpPr>
        <p:spPr>
          <a:xfrm>
            <a:off x="5760720" y="1783080"/>
            <a:ext cx="4937760" cy="320040"/>
          </a:xfrm>
          <a:prstGeom prst="rect">
            <a:avLst/>
          </a:prstGeom>
          <a:noFill/>
          <a:ln/>
        </p:spPr>
        <p:txBody>
          <a:bodyPr wrap="square" lIns="0" tIns="0" rIns="0" bIns="0" rtlCol="0" anchor="ctr"/>
          <a:lstStyle/>
          <a:p>
            <a:pPr marL="0" indent="0">
              <a:buNone/>
            </a:pPr>
            <a:r>
              <a:rPr lang="en-US" sz="1400" b="1" dirty="0">
                <a:solidFill>
                  <a:srgbClr val="003C51"/>
                </a:solidFill>
                <a:latin typeface="Calibri" pitchFamily="34" charset="0"/>
                <a:ea typeface="Calibri" pitchFamily="34" charset="-122"/>
                <a:cs typeface="Calibri" pitchFamily="34" charset="-120"/>
              </a:rPr>
              <a:t>V2  –  Future AI-enhanced path</a:t>
            </a:r>
            <a:endParaRPr lang="en-US" sz="1400" dirty="0"/>
          </a:p>
        </p:txBody>
      </p:sp>
      <p:sp>
        <p:nvSpPr>
          <p:cNvPr id="13" name="Shape 11"/>
          <p:cNvSpPr/>
          <p:nvPr/>
        </p:nvSpPr>
        <p:spPr>
          <a:xfrm>
            <a:off x="5760720" y="2231136"/>
            <a:ext cx="4937760" cy="1737360"/>
          </a:xfrm>
          <a:prstGeom prst="rect">
            <a:avLst/>
          </a:prstGeom>
          <a:solidFill>
            <a:srgbClr val="F2F8F8"/>
          </a:solidFill>
          <a:ln/>
        </p:spPr>
        <p:txBody>
          <a:bodyPr/>
          <a:lstStyle/>
          <a:p>
            <a:endParaRPr lang="en-IN"/>
          </a:p>
        </p:txBody>
      </p:sp>
      <p:sp>
        <p:nvSpPr>
          <p:cNvPr id="14" name="Text 12"/>
          <p:cNvSpPr txBox="1"/>
          <p:nvPr/>
        </p:nvSpPr>
        <p:spPr>
          <a:xfrm>
            <a:off x="6035040" y="2331720"/>
            <a:ext cx="2194560" cy="548640"/>
          </a:xfrm>
          <a:prstGeom prst="rect">
            <a:avLst/>
          </a:prstGeom>
          <a:noFill/>
          <a:ln/>
        </p:spPr>
        <p:txBody>
          <a:bodyPr wrap="square" lIns="0" tIns="0" rIns="0" bIns="0" rtlCol="0" anchor="ctr"/>
          <a:lstStyle/>
          <a:p>
            <a:pPr marL="0" indent="0">
              <a:buNone/>
            </a:pPr>
            <a:r>
              <a:rPr lang="en-US" sz="3000" b="1" dirty="0">
                <a:solidFill>
                  <a:srgbClr val="00778B"/>
                </a:solidFill>
                <a:latin typeface="Calibri" pitchFamily="34" charset="0"/>
                <a:ea typeface="Calibri" pitchFamily="34" charset="-122"/>
                <a:cs typeface="Calibri" pitchFamily="34" charset="-120"/>
              </a:rPr>
              <a:t>$0.033</a:t>
            </a:r>
            <a:endParaRPr lang="en-US" sz="3000" dirty="0"/>
          </a:p>
        </p:txBody>
      </p:sp>
      <p:sp>
        <p:nvSpPr>
          <p:cNvPr id="15" name="Text 13"/>
          <p:cNvSpPr txBox="1"/>
          <p:nvPr/>
        </p:nvSpPr>
        <p:spPr>
          <a:xfrm>
            <a:off x="6035040" y="2880360"/>
            <a:ext cx="4389120" cy="274320"/>
          </a:xfrm>
          <a:prstGeom prst="rect">
            <a:avLst/>
          </a:prstGeom>
          <a:noFill/>
          <a:ln/>
        </p:spPr>
        <p:txBody>
          <a:bodyPr wrap="square" lIns="0" tIns="0" rIns="0" bIns="0" rtlCol="0" anchor="ctr"/>
          <a:lstStyle/>
          <a:p>
            <a:pPr marL="0" indent="0">
              <a:buNone/>
            </a:pPr>
            <a:r>
              <a:rPr lang="en-US" sz="1100" dirty="0">
                <a:solidFill>
                  <a:srgbClr val="5A5A5A"/>
                </a:solidFill>
                <a:latin typeface="Calibri" pitchFamily="34" charset="0"/>
                <a:ea typeface="Calibri" pitchFamily="34" charset="-122"/>
                <a:cs typeface="Calibri" pitchFamily="34" charset="-120"/>
              </a:rPr>
              <a:t>per request  (3 LLM calls, tiered Haiku + Sonnet)</a:t>
            </a:r>
            <a:endParaRPr lang="en-US" sz="1100" dirty="0"/>
          </a:p>
        </p:txBody>
      </p:sp>
      <p:sp>
        <p:nvSpPr>
          <p:cNvPr id="16" name="Text 14"/>
          <p:cNvSpPr txBox="1"/>
          <p:nvPr/>
        </p:nvSpPr>
        <p:spPr>
          <a:xfrm>
            <a:off x="6035040" y="3246120"/>
            <a:ext cx="4389120" cy="54864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Pilot: ~$13–20 / month</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Enterprise (10K req/day): ~$5,000–9,900 / month</a:t>
            </a:r>
            <a:endParaRPr lang="en-US" sz="1200" dirty="0"/>
          </a:p>
        </p:txBody>
      </p:sp>
      <p:sp>
        <p:nvSpPr>
          <p:cNvPr id="17" name="Text 15"/>
          <p:cNvSpPr txBox="1"/>
          <p:nvPr/>
        </p:nvSpPr>
        <p:spPr>
          <a:xfrm>
            <a:off x="548640" y="4160520"/>
            <a:ext cx="10058400" cy="32004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Top cost levers for V2, without losing quality</a:t>
            </a:r>
            <a:endParaRPr lang="en-US" sz="1400" dirty="0"/>
          </a:p>
        </p:txBody>
      </p:sp>
      <p:sp>
        <p:nvSpPr>
          <p:cNvPr id="18" name="Shape 16"/>
          <p:cNvSpPr/>
          <p:nvPr/>
        </p:nvSpPr>
        <p:spPr>
          <a:xfrm>
            <a:off x="548640" y="4572000"/>
            <a:ext cx="3200400" cy="1280160"/>
          </a:xfrm>
          <a:prstGeom prst="rect">
            <a:avLst/>
          </a:prstGeom>
          <a:solidFill>
            <a:srgbClr val="F2F8F8"/>
          </a:solidFill>
          <a:ln/>
        </p:spPr>
        <p:txBody>
          <a:bodyPr/>
          <a:lstStyle/>
          <a:p>
            <a:endParaRPr lang="en-IN"/>
          </a:p>
        </p:txBody>
      </p:sp>
      <p:sp>
        <p:nvSpPr>
          <p:cNvPr id="19" name="Text 17"/>
          <p:cNvSpPr txBox="1"/>
          <p:nvPr/>
        </p:nvSpPr>
        <p:spPr>
          <a:xfrm>
            <a:off x="731520" y="4681728"/>
            <a:ext cx="2834640" cy="411480"/>
          </a:xfrm>
          <a:prstGeom prst="rect">
            <a:avLst/>
          </a:prstGeom>
          <a:noFill/>
          <a:ln/>
        </p:spPr>
        <p:txBody>
          <a:bodyPr wrap="square" lIns="0" tIns="0" rIns="0" bIns="0" rtlCol="0" anchor="ctr"/>
          <a:lstStyle/>
          <a:p>
            <a:pPr marL="0" indent="0">
              <a:buNone/>
            </a:pPr>
            <a:r>
              <a:rPr lang="en-US" sz="2000" b="1" dirty="0">
                <a:solidFill>
                  <a:srgbClr val="12B28F"/>
                </a:solidFill>
                <a:latin typeface="Calibri" pitchFamily="34" charset="0"/>
                <a:ea typeface="Calibri" pitchFamily="34" charset="-122"/>
                <a:cs typeface="Calibri" pitchFamily="34" charset="-120"/>
              </a:rPr>
              <a:t>−36%</a:t>
            </a:r>
            <a:endParaRPr lang="en-US" sz="2000" dirty="0"/>
          </a:p>
        </p:txBody>
      </p:sp>
      <p:sp>
        <p:nvSpPr>
          <p:cNvPr id="20" name="Text 18"/>
          <p:cNvSpPr txBox="1"/>
          <p:nvPr/>
        </p:nvSpPr>
        <p:spPr>
          <a:xfrm>
            <a:off x="731520" y="5102352"/>
            <a:ext cx="28346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Model tiering</a:t>
            </a:r>
            <a:endParaRPr lang="en-US" sz="1200" dirty="0"/>
          </a:p>
        </p:txBody>
      </p:sp>
      <p:sp>
        <p:nvSpPr>
          <p:cNvPr id="21" name="Text 19"/>
          <p:cNvSpPr txBox="1"/>
          <p:nvPr/>
        </p:nvSpPr>
        <p:spPr>
          <a:xfrm>
            <a:off x="731520" y="5394960"/>
            <a:ext cx="2834640" cy="411480"/>
          </a:xfrm>
          <a:prstGeom prst="rect">
            <a:avLst/>
          </a:prstGeom>
          <a:noFill/>
          <a:ln/>
        </p:spPr>
        <p:txBody>
          <a:bodyPr wrap="square" lIns="0" tIns="0" rIns="0" bIns="0" rtlCol="0" anchor="t"/>
          <a:lstStyle/>
          <a:p>
            <a:pPr marL="0" indent="0">
              <a:buNone/>
            </a:pPr>
            <a:r>
              <a:rPr lang="en-US" sz="1000" dirty="0">
                <a:solidFill>
                  <a:srgbClr val="5A5A5A"/>
                </a:solidFill>
                <a:latin typeface="Calibri" pitchFamily="34" charset="0"/>
                <a:ea typeface="Calibri" pitchFamily="34" charset="-122"/>
                <a:cs typeface="Calibri" pitchFamily="34" charset="-120"/>
              </a:rPr>
              <a:t>Haiku for parsing, Sonnet for reasoning</a:t>
            </a:r>
            <a:endParaRPr lang="en-US" sz="1000" dirty="0"/>
          </a:p>
        </p:txBody>
      </p:sp>
      <p:sp>
        <p:nvSpPr>
          <p:cNvPr id="22" name="Shape 20"/>
          <p:cNvSpPr/>
          <p:nvPr/>
        </p:nvSpPr>
        <p:spPr>
          <a:xfrm>
            <a:off x="4023360" y="4572000"/>
            <a:ext cx="3200400" cy="1280160"/>
          </a:xfrm>
          <a:prstGeom prst="rect">
            <a:avLst/>
          </a:prstGeom>
          <a:solidFill>
            <a:srgbClr val="F2F8F8"/>
          </a:solidFill>
          <a:ln/>
        </p:spPr>
        <p:txBody>
          <a:bodyPr/>
          <a:lstStyle/>
          <a:p>
            <a:endParaRPr lang="en-IN"/>
          </a:p>
        </p:txBody>
      </p:sp>
      <p:sp>
        <p:nvSpPr>
          <p:cNvPr id="23" name="Text 21"/>
          <p:cNvSpPr txBox="1"/>
          <p:nvPr/>
        </p:nvSpPr>
        <p:spPr>
          <a:xfrm>
            <a:off x="4206240" y="4681728"/>
            <a:ext cx="2834640" cy="411480"/>
          </a:xfrm>
          <a:prstGeom prst="rect">
            <a:avLst/>
          </a:prstGeom>
          <a:noFill/>
          <a:ln/>
        </p:spPr>
        <p:txBody>
          <a:bodyPr wrap="square" lIns="0" tIns="0" rIns="0" bIns="0" rtlCol="0" anchor="ctr"/>
          <a:lstStyle/>
          <a:p>
            <a:pPr marL="0" indent="0">
              <a:buNone/>
            </a:pPr>
            <a:r>
              <a:rPr lang="en-US" sz="2000" b="1" dirty="0">
                <a:solidFill>
                  <a:srgbClr val="12B28F"/>
                </a:solidFill>
                <a:latin typeface="Calibri" pitchFamily="34" charset="0"/>
                <a:ea typeface="Calibri" pitchFamily="34" charset="-122"/>
                <a:cs typeface="Calibri" pitchFamily="34" charset="-120"/>
              </a:rPr>
              <a:t>−6%</a:t>
            </a:r>
            <a:endParaRPr lang="en-US" sz="2000" dirty="0"/>
          </a:p>
        </p:txBody>
      </p:sp>
      <p:sp>
        <p:nvSpPr>
          <p:cNvPr id="24" name="Text 22"/>
          <p:cNvSpPr txBox="1"/>
          <p:nvPr/>
        </p:nvSpPr>
        <p:spPr>
          <a:xfrm>
            <a:off x="4206240" y="5102352"/>
            <a:ext cx="28346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Prompt caching</a:t>
            </a:r>
            <a:endParaRPr lang="en-US" sz="1200" dirty="0"/>
          </a:p>
        </p:txBody>
      </p:sp>
      <p:sp>
        <p:nvSpPr>
          <p:cNvPr id="25" name="Text 23"/>
          <p:cNvSpPr txBox="1"/>
          <p:nvPr/>
        </p:nvSpPr>
        <p:spPr>
          <a:xfrm>
            <a:off x="4206240" y="5394960"/>
            <a:ext cx="2834640" cy="411480"/>
          </a:xfrm>
          <a:prstGeom prst="rect">
            <a:avLst/>
          </a:prstGeom>
          <a:noFill/>
          <a:ln/>
        </p:spPr>
        <p:txBody>
          <a:bodyPr wrap="square" lIns="0" tIns="0" rIns="0" bIns="0" rtlCol="0" anchor="t"/>
          <a:lstStyle/>
          <a:p>
            <a:pPr marL="0" indent="0">
              <a:buNone/>
            </a:pPr>
            <a:r>
              <a:rPr lang="en-US" sz="1000" dirty="0">
                <a:solidFill>
                  <a:srgbClr val="5A5A5A"/>
                </a:solidFill>
                <a:latin typeface="Calibri" pitchFamily="34" charset="0"/>
                <a:ea typeface="Calibri" pitchFamily="34" charset="-122"/>
                <a:cs typeface="Calibri" pitchFamily="34" charset="-120"/>
              </a:rPr>
              <a:t>Cache static machine &amp; schema context</a:t>
            </a:r>
            <a:endParaRPr lang="en-US" sz="1000" dirty="0"/>
          </a:p>
        </p:txBody>
      </p:sp>
      <p:sp>
        <p:nvSpPr>
          <p:cNvPr id="26" name="Shape 24"/>
          <p:cNvSpPr/>
          <p:nvPr/>
        </p:nvSpPr>
        <p:spPr>
          <a:xfrm>
            <a:off x="7498080" y="4572000"/>
            <a:ext cx="3200400" cy="1280160"/>
          </a:xfrm>
          <a:prstGeom prst="rect">
            <a:avLst/>
          </a:prstGeom>
          <a:solidFill>
            <a:srgbClr val="F2F8F8"/>
          </a:solidFill>
          <a:ln/>
        </p:spPr>
        <p:txBody>
          <a:bodyPr/>
          <a:lstStyle/>
          <a:p>
            <a:endParaRPr lang="en-IN"/>
          </a:p>
        </p:txBody>
      </p:sp>
      <p:sp>
        <p:nvSpPr>
          <p:cNvPr id="27" name="Text 25"/>
          <p:cNvSpPr txBox="1"/>
          <p:nvPr/>
        </p:nvSpPr>
        <p:spPr>
          <a:xfrm>
            <a:off x="7680960" y="4681728"/>
            <a:ext cx="2834640" cy="411480"/>
          </a:xfrm>
          <a:prstGeom prst="rect">
            <a:avLst/>
          </a:prstGeom>
          <a:noFill/>
          <a:ln/>
        </p:spPr>
        <p:txBody>
          <a:bodyPr wrap="square" lIns="0" tIns="0" rIns="0" bIns="0" rtlCol="0" anchor="ctr"/>
          <a:lstStyle/>
          <a:p>
            <a:pPr marL="0" indent="0">
              <a:buNone/>
            </a:pPr>
            <a:r>
              <a:rPr lang="en-US" sz="2000" b="1" dirty="0">
                <a:solidFill>
                  <a:srgbClr val="12B28F"/>
                </a:solidFill>
                <a:latin typeface="Calibri" pitchFamily="34" charset="0"/>
                <a:ea typeface="Calibri" pitchFamily="34" charset="-122"/>
                <a:cs typeface="Calibri" pitchFamily="34" charset="-120"/>
              </a:rPr>
              <a:t>−20%</a:t>
            </a:r>
            <a:endParaRPr lang="en-US" sz="2000" dirty="0"/>
          </a:p>
        </p:txBody>
      </p:sp>
      <p:sp>
        <p:nvSpPr>
          <p:cNvPr id="28" name="Text 26"/>
          <p:cNvSpPr txBox="1"/>
          <p:nvPr/>
        </p:nvSpPr>
        <p:spPr>
          <a:xfrm>
            <a:off x="7680960" y="5102352"/>
            <a:ext cx="283464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Batch API</a:t>
            </a:r>
            <a:endParaRPr lang="en-US" sz="1200" dirty="0"/>
          </a:p>
        </p:txBody>
      </p:sp>
      <p:sp>
        <p:nvSpPr>
          <p:cNvPr id="29" name="Text 27"/>
          <p:cNvSpPr txBox="1"/>
          <p:nvPr/>
        </p:nvSpPr>
        <p:spPr>
          <a:xfrm>
            <a:off x="7680960" y="5394960"/>
            <a:ext cx="2834640" cy="411480"/>
          </a:xfrm>
          <a:prstGeom prst="rect">
            <a:avLst/>
          </a:prstGeom>
          <a:noFill/>
          <a:ln/>
        </p:spPr>
        <p:txBody>
          <a:bodyPr wrap="square" lIns="0" tIns="0" rIns="0" bIns="0" rtlCol="0" anchor="t"/>
          <a:lstStyle/>
          <a:p>
            <a:pPr marL="0" indent="0">
              <a:buNone/>
            </a:pPr>
            <a:r>
              <a:rPr lang="en-US" sz="1000" dirty="0">
                <a:solidFill>
                  <a:srgbClr val="5A5A5A"/>
                </a:solidFill>
                <a:latin typeface="Calibri" pitchFamily="34" charset="0"/>
                <a:ea typeface="Calibri" pitchFamily="34" charset="-122"/>
                <a:cs typeface="Calibri" pitchFamily="34" charset="-120"/>
              </a:rPr>
              <a:t>Async processing for non-urgent trend reports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marL="0" indent="0">
              <a:buNone/>
            </a:pPr>
            <a:r>
              <a:rPr lang="en-US" sz="1200" b="1" kern="0" spc="100" dirty="0">
                <a:solidFill>
                  <a:srgbClr val="00778B"/>
                </a:solidFill>
                <a:latin typeface="Calibri" pitchFamily="34" charset="0"/>
                <a:ea typeface="Calibri" pitchFamily="34" charset="-122"/>
                <a:cs typeface="Calibri" pitchFamily="34" charset="-120"/>
              </a:rPr>
              <a:t>DEFEND</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Key outcomes</a:t>
            </a:r>
            <a:endParaRPr lang="en-US" sz="3000" dirty="0"/>
          </a:p>
        </p:txBody>
      </p:sp>
      <p:sp>
        <p:nvSpPr>
          <p:cNvPr id="4" name="Text 2"/>
          <p:cNvSpPr txBox="1"/>
          <p:nvPr/>
        </p:nvSpPr>
        <p:spPr>
          <a:xfrm>
            <a:off x="548640" y="1207008"/>
            <a:ext cx="11064240" cy="365760"/>
          </a:xfrm>
          <a:prstGeom prst="rect">
            <a:avLst/>
          </a:prstGeom>
          <a:noFill/>
          <a:ln/>
        </p:spPr>
        <p:txBody>
          <a:bodyPr wrap="square" lIns="0" tIns="0" rIns="0" bIns="0"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What the thin slice proved – and what it did not</a:t>
            </a:r>
            <a:endParaRPr lang="en-US" sz="1400" dirty="0"/>
          </a:p>
        </p:txBody>
      </p:sp>
      <p:sp>
        <p:nvSpPr>
          <p:cNvPr id="5" name="Text 3"/>
          <p:cNvSpPr txBox="1"/>
          <p:nvPr/>
        </p:nvSpPr>
        <p:spPr>
          <a:xfrm>
            <a:off x="548640" y="6473952"/>
            <a:ext cx="5486400" cy="274320"/>
          </a:xfrm>
          <a:prstGeom prst="rect">
            <a:avLst/>
          </a:prstGeom>
          <a:noFill/>
          <a:ln/>
        </p:spPr>
        <p:txBody>
          <a:bodyPr wrap="square" lIns="0" tIns="0" rIns="0" bIns="0" rtlCol="0" anchor="ctr"/>
          <a:lstStyle/>
          <a:p>
            <a:pPr marL="0" indent="0" algn="l">
              <a:buNone/>
            </a:pPr>
            <a:r>
              <a:rPr lang="en-US" sz="900" dirty="0">
                <a:solidFill>
                  <a:srgbClr val="8D9AA1"/>
                </a:solidFill>
                <a:latin typeface="Calibri" pitchFamily="34" charset="0"/>
                <a:ea typeface="Calibri" pitchFamily="34" charset="-122"/>
                <a:cs typeface="Calibri" pitchFamily="34" charset="-120"/>
              </a:rPr>
              <a:t>UST  |  FDE Capstone Program</a:t>
            </a:r>
            <a:endParaRPr lang="en-US" sz="900" dirty="0"/>
          </a:p>
        </p:txBody>
      </p:sp>
      <p:sp>
        <p:nvSpPr>
          <p:cNvPr id="6" name="Text 4"/>
          <p:cNvSpPr txBox="1"/>
          <p:nvPr/>
        </p:nvSpPr>
        <p:spPr>
          <a:xfrm>
            <a:off x="11091672" y="6473952"/>
            <a:ext cx="548640" cy="274320"/>
          </a:xfrm>
          <a:prstGeom prst="rect">
            <a:avLst/>
          </a:prstGeom>
          <a:noFill/>
          <a:ln/>
        </p:spPr>
        <p:txBody>
          <a:bodyPr wrap="square" lIns="0" tIns="0" rIns="0" bIns="0" rtlCol="0" anchor="ctr"/>
          <a:lstStyle/>
          <a:p>
            <a:pPr marL="0" indent="0" algn="r">
              <a:buNone/>
            </a:pPr>
            <a:r>
              <a:rPr lang="en-US" sz="900" dirty="0">
                <a:solidFill>
                  <a:srgbClr val="8D9AA1"/>
                </a:solidFill>
                <a:latin typeface="Calibri" pitchFamily="34" charset="0"/>
                <a:ea typeface="Calibri" pitchFamily="34" charset="-122"/>
                <a:cs typeface="Calibri" pitchFamily="34" charset="-120"/>
              </a:rPr>
              <a:t>11</a:t>
            </a:r>
            <a:endParaRPr lang="en-US" sz="900" dirty="0"/>
          </a:p>
        </p:txBody>
      </p:sp>
      <p:sp>
        <p:nvSpPr>
          <p:cNvPr id="7" name="Text 5"/>
          <p:cNvSpPr txBox="1"/>
          <p:nvPr/>
        </p:nvSpPr>
        <p:spPr>
          <a:xfrm>
            <a:off x="548640" y="1783080"/>
            <a:ext cx="4937760" cy="320040"/>
          </a:xfrm>
          <a:prstGeom prst="rect">
            <a:avLst/>
          </a:prstGeom>
          <a:noFill/>
          <a:ln/>
        </p:spPr>
        <p:txBody>
          <a:bodyPr wrap="square" lIns="0" tIns="0" rIns="0" bIns="0" rtlCol="0" anchor="ctr"/>
          <a:lstStyle/>
          <a:p>
            <a:pPr marL="0" indent="0">
              <a:buNone/>
            </a:pPr>
            <a:r>
              <a:rPr lang="en-US" sz="1500" b="1" dirty="0">
                <a:solidFill>
                  <a:srgbClr val="12B28F"/>
                </a:solidFill>
                <a:latin typeface="Calibri" pitchFamily="34" charset="0"/>
                <a:ea typeface="Calibri" pitchFamily="34" charset="-122"/>
                <a:cs typeface="Calibri" pitchFamily="34" charset="-120"/>
              </a:rPr>
              <a:t>Validated</a:t>
            </a:r>
            <a:endParaRPr lang="en-US" sz="1500" dirty="0"/>
          </a:p>
        </p:txBody>
      </p:sp>
      <p:sp>
        <p:nvSpPr>
          <p:cNvPr id="8" name="Shape 6"/>
          <p:cNvSpPr/>
          <p:nvPr/>
        </p:nvSpPr>
        <p:spPr>
          <a:xfrm>
            <a:off x="548640" y="2240280"/>
            <a:ext cx="128016" cy="128016"/>
          </a:xfrm>
          <a:prstGeom prst="ellipse">
            <a:avLst/>
          </a:prstGeom>
          <a:solidFill>
            <a:srgbClr val="12B28F"/>
          </a:solidFill>
          <a:ln/>
        </p:spPr>
        <p:txBody>
          <a:bodyPr/>
          <a:lstStyle/>
          <a:p>
            <a:endParaRPr lang="en-IN"/>
          </a:p>
        </p:txBody>
      </p:sp>
      <p:sp>
        <p:nvSpPr>
          <p:cNvPr id="9" name="Text 7"/>
          <p:cNvSpPr txBox="1"/>
          <p:nvPr/>
        </p:nvSpPr>
        <p:spPr>
          <a:xfrm>
            <a:off x="822960" y="2121408"/>
            <a:ext cx="5120640" cy="7315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Heterogeneous vendor data (CSV, JSON, free text) normalizes into one common schema</a:t>
            </a:r>
            <a:endParaRPr lang="en-US" sz="1200" dirty="0"/>
          </a:p>
        </p:txBody>
      </p:sp>
      <p:sp>
        <p:nvSpPr>
          <p:cNvPr id="10" name="Shape 8"/>
          <p:cNvSpPr/>
          <p:nvPr/>
        </p:nvSpPr>
        <p:spPr>
          <a:xfrm>
            <a:off x="548640" y="3017520"/>
            <a:ext cx="128016" cy="128016"/>
          </a:xfrm>
          <a:prstGeom prst="ellipse">
            <a:avLst/>
          </a:prstGeom>
          <a:solidFill>
            <a:srgbClr val="12B28F"/>
          </a:solidFill>
          <a:ln/>
        </p:spPr>
        <p:txBody>
          <a:bodyPr/>
          <a:lstStyle/>
          <a:p>
            <a:endParaRPr lang="en-IN"/>
          </a:p>
        </p:txBody>
      </p:sp>
      <p:sp>
        <p:nvSpPr>
          <p:cNvPr id="11" name="Text 9"/>
          <p:cNvSpPr txBox="1"/>
          <p:nvPr/>
        </p:nvSpPr>
        <p:spPr>
          <a:xfrm>
            <a:off x="822960" y="2898648"/>
            <a:ext cx="5120640" cy="7315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A rule-based pipeline finds a strong candidate signal (pressure) and a moderate one (temperature)</a:t>
            </a:r>
            <a:endParaRPr lang="en-US" sz="1200" dirty="0"/>
          </a:p>
        </p:txBody>
      </p:sp>
      <p:sp>
        <p:nvSpPr>
          <p:cNvPr id="12" name="Shape 10"/>
          <p:cNvSpPr/>
          <p:nvPr/>
        </p:nvSpPr>
        <p:spPr>
          <a:xfrm>
            <a:off x="548640" y="3794760"/>
            <a:ext cx="128016" cy="128016"/>
          </a:xfrm>
          <a:prstGeom prst="ellipse">
            <a:avLst/>
          </a:prstGeom>
          <a:solidFill>
            <a:srgbClr val="12B28F"/>
          </a:solidFill>
          <a:ln/>
        </p:spPr>
        <p:txBody>
          <a:bodyPr/>
          <a:lstStyle/>
          <a:p>
            <a:endParaRPr lang="en-IN"/>
          </a:p>
        </p:txBody>
      </p:sp>
      <p:sp>
        <p:nvSpPr>
          <p:cNvPr id="13" name="Text 11"/>
          <p:cNvSpPr txBox="1"/>
          <p:nvPr/>
        </p:nvSpPr>
        <p:spPr>
          <a:xfrm>
            <a:off x="822960" y="3675888"/>
            <a:ext cx="5120640" cy="7315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The pipeline runs 100% locally, air-gapped, in under a second</a:t>
            </a:r>
            <a:endParaRPr lang="en-US" sz="1200" dirty="0"/>
          </a:p>
        </p:txBody>
      </p:sp>
      <p:sp>
        <p:nvSpPr>
          <p:cNvPr id="14" name="Shape 12"/>
          <p:cNvSpPr/>
          <p:nvPr/>
        </p:nvSpPr>
        <p:spPr>
          <a:xfrm>
            <a:off x="548640" y="4572000"/>
            <a:ext cx="128016" cy="128016"/>
          </a:xfrm>
          <a:prstGeom prst="ellipse">
            <a:avLst/>
          </a:prstGeom>
          <a:solidFill>
            <a:srgbClr val="12B28F"/>
          </a:solidFill>
          <a:ln/>
        </p:spPr>
        <p:txBody>
          <a:bodyPr/>
          <a:lstStyle/>
          <a:p>
            <a:endParaRPr lang="en-IN"/>
          </a:p>
        </p:txBody>
      </p:sp>
      <p:sp>
        <p:nvSpPr>
          <p:cNvPr id="15" name="Text 13"/>
          <p:cNvSpPr txBox="1"/>
          <p:nvPr/>
        </p:nvSpPr>
        <p:spPr>
          <a:xfrm>
            <a:off x="822960" y="4453128"/>
            <a:ext cx="5120640" cy="73152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Architecture is ready for AI to be added later without a rewrite</a:t>
            </a:r>
            <a:endParaRPr lang="en-US" sz="1200" dirty="0"/>
          </a:p>
        </p:txBody>
      </p:sp>
      <p:sp>
        <p:nvSpPr>
          <p:cNvPr id="16" name="Text 14"/>
          <p:cNvSpPr txBox="1"/>
          <p:nvPr/>
        </p:nvSpPr>
        <p:spPr>
          <a:xfrm>
            <a:off x="6126480" y="1783080"/>
            <a:ext cx="4937760" cy="320040"/>
          </a:xfrm>
          <a:prstGeom prst="rect">
            <a:avLst/>
          </a:prstGeom>
          <a:noFill/>
          <a:ln/>
        </p:spPr>
        <p:txBody>
          <a:bodyPr wrap="square" lIns="0" tIns="0" rIns="0" bIns="0" rtlCol="0" anchor="ctr"/>
          <a:lstStyle/>
          <a:p>
            <a:pPr marL="0" indent="0">
              <a:buNone/>
            </a:pPr>
            <a:r>
              <a:rPr lang="en-US" sz="1500" b="1" dirty="0">
                <a:solidFill>
                  <a:srgbClr val="5A5A5A"/>
                </a:solidFill>
                <a:latin typeface="Calibri" pitchFamily="34" charset="0"/>
                <a:ea typeface="Calibri" pitchFamily="34" charset="-122"/>
                <a:cs typeface="Calibri" pitchFamily="34" charset="-120"/>
              </a:rPr>
              <a:t>Still open</a:t>
            </a:r>
            <a:endParaRPr lang="en-US" sz="1500" dirty="0"/>
          </a:p>
        </p:txBody>
      </p:sp>
      <p:sp>
        <p:nvSpPr>
          <p:cNvPr id="17" name="Shape 15"/>
          <p:cNvSpPr/>
          <p:nvPr/>
        </p:nvSpPr>
        <p:spPr>
          <a:xfrm>
            <a:off x="6126480" y="2240280"/>
            <a:ext cx="128016" cy="128016"/>
          </a:xfrm>
          <a:prstGeom prst="ellipse">
            <a:avLst/>
          </a:prstGeom>
          <a:solidFill>
            <a:srgbClr val="8D9AA1"/>
          </a:solidFill>
          <a:ln/>
        </p:spPr>
        <p:txBody>
          <a:bodyPr/>
          <a:lstStyle/>
          <a:p>
            <a:endParaRPr lang="en-IN"/>
          </a:p>
        </p:txBody>
      </p:sp>
      <p:sp>
        <p:nvSpPr>
          <p:cNvPr id="18" name="Text 16"/>
          <p:cNvSpPr txBox="1"/>
          <p:nvPr/>
        </p:nvSpPr>
        <p:spPr>
          <a:xfrm>
            <a:off x="6400800" y="2121408"/>
            <a:ext cx="4572000" cy="82296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This is correlation, not proof of root cause – findings need maintenance-team validation</a:t>
            </a:r>
            <a:endParaRPr lang="en-US" sz="1200" dirty="0"/>
          </a:p>
        </p:txBody>
      </p:sp>
      <p:sp>
        <p:nvSpPr>
          <p:cNvPr id="19" name="Shape 17"/>
          <p:cNvSpPr/>
          <p:nvPr/>
        </p:nvSpPr>
        <p:spPr>
          <a:xfrm>
            <a:off x="6126480" y="3108960"/>
            <a:ext cx="128016" cy="128016"/>
          </a:xfrm>
          <a:prstGeom prst="ellipse">
            <a:avLst/>
          </a:prstGeom>
          <a:solidFill>
            <a:srgbClr val="8D9AA1"/>
          </a:solidFill>
          <a:ln/>
        </p:spPr>
        <p:txBody>
          <a:bodyPr/>
          <a:lstStyle/>
          <a:p>
            <a:endParaRPr lang="en-IN"/>
          </a:p>
        </p:txBody>
      </p:sp>
      <p:sp>
        <p:nvSpPr>
          <p:cNvPr id="20" name="Text 18"/>
          <p:cNvSpPr txBox="1"/>
          <p:nvPr/>
        </p:nvSpPr>
        <p:spPr>
          <a:xfrm>
            <a:off x="6400800" y="2990088"/>
            <a:ext cx="4572000" cy="82296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~20% of machines still have no telemetry and stay flagged, not guessed</a:t>
            </a:r>
            <a:endParaRPr lang="en-US" sz="1200" dirty="0"/>
          </a:p>
        </p:txBody>
      </p:sp>
      <p:sp>
        <p:nvSpPr>
          <p:cNvPr id="21" name="Shape 19"/>
          <p:cNvSpPr/>
          <p:nvPr/>
        </p:nvSpPr>
        <p:spPr>
          <a:xfrm>
            <a:off x="6126480" y="3977640"/>
            <a:ext cx="128016" cy="128016"/>
          </a:xfrm>
          <a:prstGeom prst="ellipse">
            <a:avLst/>
          </a:prstGeom>
          <a:solidFill>
            <a:srgbClr val="8D9AA1"/>
          </a:solidFill>
          <a:ln/>
        </p:spPr>
        <p:txBody>
          <a:bodyPr/>
          <a:lstStyle/>
          <a:p>
            <a:endParaRPr lang="en-IN"/>
          </a:p>
        </p:txBody>
      </p:sp>
      <p:sp>
        <p:nvSpPr>
          <p:cNvPr id="22" name="Text 20"/>
          <p:cNvSpPr txBox="1"/>
          <p:nvPr/>
        </p:nvSpPr>
        <p:spPr>
          <a:xfrm>
            <a:off x="6400800" y="3858768"/>
            <a:ext cx="4572000" cy="822960"/>
          </a:xfrm>
          <a:prstGeom prst="rect">
            <a:avLst/>
          </a:prstGeom>
          <a:noFill/>
          <a:ln/>
        </p:spPr>
        <p:txBody>
          <a:bodyPr wrap="square" lIns="0" tIns="0" rIns="0" bIns="0" rtlCol="0" anchor="t"/>
          <a:lstStyle/>
          <a:p>
            <a:pPr marL="0" indent="0">
              <a:buNone/>
            </a:pPr>
            <a:r>
              <a:rPr lang="en-US" sz="1200" dirty="0">
                <a:solidFill>
                  <a:srgbClr val="1A1A1A"/>
                </a:solidFill>
                <a:latin typeface="Calibri" pitchFamily="34" charset="0"/>
                <a:ea typeface="Calibri" pitchFamily="34" charset="-122"/>
                <a:cs typeface="Calibri" pitchFamily="34" charset="-120"/>
              </a:rPr>
              <a:t>Sample data is synthetic; results must be re-run against real plant data</a:t>
            </a:r>
            <a:endParaRPr lang="en-US" sz="1200" dirty="0"/>
          </a:p>
        </p:txBody>
      </p:sp>
      <p:sp>
        <p:nvSpPr>
          <p:cNvPr id="23" name="Shape 21"/>
          <p:cNvSpPr/>
          <p:nvPr/>
        </p:nvSpPr>
        <p:spPr>
          <a:xfrm>
            <a:off x="548640" y="5349240"/>
            <a:ext cx="10149840" cy="777240"/>
          </a:xfrm>
          <a:prstGeom prst="rect">
            <a:avLst/>
          </a:prstGeom>
          <a:solidFill>
            <a:srgbClr val="003C51"/>
          </a:solidFill>
          <a:ln/>
        </p:spPr>
        <p:txBody>
          <a:bodyPr/>
          <a:lstStyle/>
          <a:p>
            <a:endParaRPr lang="en-IN"/>
          </a:p>
        </p:txBody>
      </p:sp>
      <p:sp>
        <p:nvSpPr>
          <p:cNvPr id="24" name="Text 22"/>
          <p:cNvSpPr txBox="1"/>
          <p:nvPr/>
        </p:nvSpPr>
        <p:spPr>
          <a:xfrm>
            <a:off x="822960" y="5349240"/>
            <a:ext cx="960120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Bottom line: the data does contain early warning signals worth acting on – enough evidence to justify expanding this thin slice toward the OEM scorecard.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237</TotalTime>
  <Words>1394</Words>
  <Application>Microsoft Office PowerPoint</Application>
  <PresentationFormat>Custom</PresentationFormat>
  <Paragraphs>256</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Keerthana Venukumar(UST,IN)</cp:lastModifiedBy>
  <cp:revision>47</cp:revision>
  <dcterms:created xsi:type="dcterms:W3CDTF">2026-09-22T10:28:09Z</dcterms:created>
  <dcterms:modified xsi:type="dcterms:W3CDTF">2026-09-23T12:13:41Z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2026-09-22T11:05:42Z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86793780-aa34-4d06-9d5d-aefb04eb195f</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