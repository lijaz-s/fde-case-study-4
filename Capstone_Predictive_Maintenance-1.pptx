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7" r:id="rId10"/>
    <p:sldId id="264" r:id="rId11"/>
    <p:sldId id="265" r:id="rId12"/>
    <p:sldId id="266" r:id="rId13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46498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C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  |  FDE Capstone Program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12B2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FDE CAPSTONE PROJECT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2880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Maintenance</a:t>
            </a:r>
            <a:endParaRPr lang="en-US" sz="4400" dirty="0"/>
          </a:p>
          <a:p>
            <a:pPr marL="0" indent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Agent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6118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3E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scattered machine data into early warning signals for a Tier-2 automotive supplier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4343400"/>
            <a:ext cx="1828800" cy="457200"/>
          </a:xfrm>
          <a:prstGeom prst="roundRect">
            <a:avLst>
              <a:gd name="adj" fmla="val 12000"/>
            </a:avLst>
          </a:prstGeom>
          <a:solidFill>
            <a:srgbClr val="0A4E63"/>
          </a:solidFill>
          <a:ln w="12700">
            <a:solidFill>
              <a:srgbClr val="12B28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548640" y="4343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2377440" y="43434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2B2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697480" y="4343400"/>
            <a:ext cx="1828800" cy="457200"/>
          </a:xfrm>
          <a:prstGeom prst="roundRect">
            <a:avLst>
              <a:gd name="adj" fmla="val 12000"/>
            </a:avLst>
          </a:prstGeom>
          <a:solidFill>
            <a:srgbClr val="0A4E63"/>
          </a:solidFill>
          <a:ln w="12700">
            <a:solidFill>
              <a:srgbClr val="12B28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2697480" y="4343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26280" y="43434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2B2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846320" y="4343400"/>
            <a:ext cx="1828800" cy="457200"/>
          </a:xfrm>
          <a:prstGeom prst="roundRect">
            <a:avLst>
              <a:gd name="adj" fmla="val 12000"/>
            </a:avLst>
          </a:prstGeom>
          <a:solidFill>
            <a:srgbClr val="0A4E63"/>
          </a:solidFill>
          <a:ln w="12700">
            <a:solidFill>
              <a:srgbClr val="12B28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4846320" y="4343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257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8D9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53212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Lijaz Salim   ·   Keerthana   ·   Krithik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9893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3E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 – G A Menon Academy  |  Final Presentation, 24 September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C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77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journey through the FDE approach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D9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  |  FDE Capstone Program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D9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3505200" cy="3566160"/>
          </a:xfrm>
          <a:prstGeom prst="rect">
            <a:avLst/>
          </a:prstGeom>
          <a:solidFill>
            <a:srgbClr val="F2F8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822960" y="2057400"/>
            <a:ext cx="295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77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697480"/>
            <a:ext cx="295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200400"/>
            <a:ext cx="2956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and problem framing canvas for the assigned use case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28160" y="1828800"/>
            <a:ext cx="3505200" cy="3566160"/>
          </a:xfrm>
          <a:prstGeom prst="rect">
            <a:avLst/>
          </a:prstGeom>
          <a:solidFill>
            <a:srgbClr val="F2F8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4602480" y="2057400"/>
            <a:ext cx="295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77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4602480" y="2697480"/>
            <a:ext cx="295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602480" y="3200400"/>
            <a:ext cx="2956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Thin-slice scope, architecture decisions and the working prototype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07680" y="1828800"/>
            <a:ext cx="3505200" cy="3566160"/>
          </a:xfrm>
          <a:prstGeom prst="rect">
            <a:avLst/>
          </a:prstGeom>
          <a:solidFill>
            <a:srgbClr val="F2F8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8382000" y="2057400"/>
            <a:ext cx="295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77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8382000" y="2697480"/>
            <a:ext cx="295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382000" y="3200400"/>
            <a:ext cx="2956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demo, cost path to AI, and client-style Q&amp;A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C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77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D9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  |  FDE Capstone Program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D9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737360"/>
            <a:ext cx="6400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Tier-2 automotive component manufacturer runs 60+ CNC and injection-moulding machines across two plants. Today, maintenance relies on a third-party annual contract with checklist-based servicing – yet machines still break down roughly once every two days.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79476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i="1" dirty="0">
                <a:solidFill>
                  <a:srgbClr val="0077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believe combining existing telemetry, dashboard indicators and maintenance records can surface early warning signals – before a breakdown, not after.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406640" y="1737360"/>
            <a:ext cx="4206240" cy="1005840"/>
          </a:xfrm>
          <a:prstGeom prst="rect">
            <a:avLst/>
          </a:prstGeom>
          <a:solidFill>
            <a:srgbClr val="F2F8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7680960" y="18288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C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~$10M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7680960" y="2331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impact per stoppage pattern, today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406640" y="2926080"/>
            <a:ext cx="4206240" cy="1005840"/>
          </a:xfrm>
          <a:prstGeom prst="rect">
            <a:avLst/>
          </a:prstGeom>
          <a:solidFill>
            <a:srgbClr val="F2F8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7680960" y="30175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C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2 days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7680960" y="3520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frequency of unplanned breakdowns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406640" y="4114800"/>
            <a:ext cx="4206240" cy="1005840"/>
          </a:xfrm>
          <a:prstGeom prst="rect">
            <a:avLst/>
          </a:prstGeom>
          <a:solidFill>
            <a:srgbClr val="F2F8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7680960" y="42062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C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weeks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7680960" y="4709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until the next OEM supplier scorecard is due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C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77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framing canvas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0700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Structuring the problem before designing a solution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D9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  |  FDE Capstone Program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D9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5394960" cy="1280160"/>
          </a:xfrm>
          <a:prstGeom prst="rect">
            <a:avLst/>
          </a:prstGeom>
          <a:solidFill>
            <a:srgbClr val="F2F8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548640" y="1920240"/>
            <a:ext cx="54864" cy="1280160"/>
          </a:xfrm>
          <a:prstGeom prst="rect">
            <a:avLst/>
          </a:prstGeom>
          <a:solidFill>
            <a:srgbClr val="00778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777240" y="202996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0077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304288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Machines shutting down every 2 days, causing major business impact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17920" y="1920240"/>
            <a:ext cx="5394960" cy="1280160"/>
          </a:xfrm>
          <a:prstGeom prst="rect">
            <a:avLst/>
          </a:prstGeom>
          <a:solidFill>
            <a:srgbClr val="F2F8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6217920" y="1920240"/>
            <a:ext cx="54864" cy="1280160"/>
          </a:xfrm>
          <a:prstGeom prst="rect">
            <a:avLst/>
          </a:prstGeom>
          <a:solidFill>
            <a:srgbClr val="00778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6446520" y="202996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0077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2304288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~$10M impact → working target ~$5M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3337560"/>
            <a:ext cx="5394960" cy="1280160"/>
          </a:xfrm>
          <a:prstGeom prst="rect">
            <a:avLst/>
          </a:prstGeom>
          <a:solidFill>
            <a:srgbClr val="F2F8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548640" y="3337560"/>
            <a:ext cx="54864" cy="1280160"/>
          </a:xfrm>
          <a:prstGeom prst="rect">
            <a:avLst/>
          </a:prstGeom>
          <a:solidFill>
            <a:srgbClr val="00778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777240" y="344728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0077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3721608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annual contract, checklist-based, last service ~6 months ago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17920" y="3337560"/>
            <a:ext cx="5394960" cy="1280160"/>
          </a:xfrm>
          <a:prstGeom prst="rect">
            <a:avLst/>
          </a:prstGeom>
          <a:solidFill>
            <a:srgbClr val="F2F8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217920" y="3337560"/>
            <a:ext cx="54864" cy="1280160"/>
          </a:xfrm>
          <a:prstGeom prst="rect">
            <a:avLst/>
          </a:prstGeom>
          <a:solidFill>
            <a:srgbClr val="00778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 txBox="1"/>
          <p:nvPr/>
        </p:nvSpPr>
        <p:spPr>
          <a:xfrm>
            <a:off x="6446520" y="344728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0077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446520" y="3721608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data formats (CSV, JSON, unstructured text), CNC + injection moulding, air-gapped network, quarter deadline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4754880"/>
            <a:ext cx="5394960" cy="1280160"/>
          </a:xfrm>
          <a:prstGeom prst="rect">
            <a:avLst/>
          </a:prstGeom>
          <a:solidFill>
            <a:srgbClr val="F2F8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548640" y="4754880"/>
            <a:ext cx="54864" cy="1280160"/>
          </a:xfrm>
          <a:prstGeom prst="rect">
            <a:avLst/>
          </a:prstGeom>
          <a:solidFill>
            <a:srgbClr val="00778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 txBox="1"/>
          <p:nvPr/>
        </p:nvSpPr>
        <p:spPr>
          <a:xfrm>
            <a:off x="777240" y="486460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0077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777240" y="5138928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are reliable; ~20% of legacy machines lack telemetry; client will share OEM scorecard data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217920" y="4754880"/>
            <a:ext cx="5394960" cy="1280160"/>
          </a:xfrm>
          <a:prstGeom prst="rect">
            <a:avLst/>
          </a:prstGeom>
          <a:solidFill>
            <a:srgbClr val="F2F8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6217920" y="4754880"/>
            <a:ext cx="54864" cy="1280160"/>
          </a:xfrm>
          <a:prstGeom prst="rect">
            <a:avLst/>
          </a:prstGeom>
          <a:solidFill>
            <a:srgbClr val="12B28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 txBox="1"/>
          <p:nvPr/>
        </p:nvSpPr>
        <p:spPr>
          <a:xfrm>
            <a:off x="6446520" y="486460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0077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HIGHEST-RISK ASSUMPTION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6446520" y="5138928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telemetry and maintenance history contain repeatable signals that appear before failures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C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77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→ DESIGN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thin slice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0700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the riskiest assumption first, on a small scope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D9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  |  FDE Capstone Program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D9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83080"/>
            <a:ext cx="10149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maintenance records together with available telemetry and dashboard metrics for a small set of critical machines – to test whether the data actually contains signals that appear before a stoppage.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8346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3C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scope for this slice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392424"/>
            <a:ext cx="128016" cy="128016"/>
          </a:xfrm>
          <a:prstGeom prst="ellipse">
            <a:avLst/>
          </a:prstGeom>
          <a:solidFill>
            <a:srgbClr val="12B28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822960" y="3282696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CSV, JSON and free-text logs from multiple machine vendors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959352"/>
            <a:ext cx="128016" cy="128016"/>
          </a:xfrm>
          <a:prstGeom prst="ellipse">
            <a:avLst/>
          </a:prstGeom>
          <a:solidFill>
            <a:srgbClr val="12B28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822960" y="3849624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vendor-specific fields into one common schema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526280"/>
            <a:ext cx="128016" cy="128016"/>
          </a:xfrm>
          <a:prstGeom prst="ellipse">
            <a:avLst/>
          </a:prstGeom>
          <a:solidFill>
            <a:srgbClr val="12B28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822960" y="4416552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anomaly detection – no ML, no external AI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5093208"/>
            <a:ext cx="128016" cy="128016"/>
          </a:xfrm>
          <a:prstGeom prst="ellipse">
            <a:avLst/>
          </a:prstGeom>
          <a:solidFill>
            <a:srgbClr val="12B28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822960" y="4983480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Evidence-based report: candidate signals, not claimed causes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28346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Explicitly out of scope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263640" y="3392424"/>
            <a:ext cx="128016" cy="128016"/>
          </a:xfrm>
          <a:prstGeom prst="ellipse">
            <a:avLst/>
          </a:prstGeom>
          <a:solidFill>
            <a:srgbClr val="8D9AA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 txBox="1"/>
          <p:nvPr/>
        </p:nvSpPr>
        <p:spPr>
          <a:xfrm>
            <a:off x="6537960" y="3282696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60+ machine rollout across both plants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63640" y="3959352"/>
            <a:ext cx="128016" cy="128016"/>
          </a:xfrm>
          <a:prstGeom prst="ellipse">
            <a:avLst/>
          </a:prstGeom>
          <a:solidFill>
            <a:srgbClr val="8D9AA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 txBox="1"/>
          <p:nvPr/>
        </p:nvSpPr>
        <p:spPr>
          <a:xfrm>
            <a:off x="6537960" y="3849624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ML model or LLM integration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263640" y="4526280"/>
            <a:ext cx="128016" cy="128016"/>
          </a:xfrm>
          <a:prstGeom prst="ellipse">
            <a:avLst/>
          </a:prstGeom>
          <a:solidFill>
            <a:srgbClr val="8D9AA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 txBox="1"/>
          <p:nvPr/>
        </p:nvSpPr>
        <p:spPr>
          <a:xfrm>
            <a:off x="6537960" y="4416552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machine control or PLC actions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263640" y="5093208"/>
            <a:ext cx="128016" cy="128016"/>
          </a:xfrm>
          <a:prstGeom prst="ellipse">
            <a:avLst/>
          </a:prstGeom>
          <a:solidFill>
            <a:srgbClr val="8D9AA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 txBox="1"/>
          <p:nvPr/>
        </p:nvSpPr>
        <p:spPr>
          <a:xfrm>
            <a:off x="6537960" y="4983480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infrastructure – the plant network is air-gapped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C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77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architecture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0700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deterministic workflow, not an autonomous agent – by design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D9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  |  FDE Capstone Program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D9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1828800" cy="1188720"/>
          </a:xfrm>
          <a:prstGeom prst="rect">
            <a:avLst/>
          </a:prstGeom>
          <a:solidFill>
            <a:srgbClr val="F2F8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548640" y="2240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3C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0604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· JSON · TXT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multi-vendor files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2377440" y="2103120"/>
            <a:ext cx="4800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77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857500" y="2103120"/>
            <a:ext cx="1828800" cy="1188720"/>
          </a:xfrm>
          <a:prstGeom prst="rect">
            <a:avLst/>
          </a:prstGeom>
          <a:solidFill>
            <a:srgbClr val="F2F8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2857500" y="2240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3C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948940" y="260604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vendor fields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common schema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4686300" y="2103120"/>
            <a:ext cx="4800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77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166360" y="2103120"/>
            <a:ext cx="1828800" cy="1188720"/>
          </a:xfrm>
          <a:prstGeom prst="rect">
            <a:avLst/>
          </a:prstGeom>
          <a:solidFill>
            <a:srgbClr val="F2F8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5166360" y="2240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3C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257800" y="260604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thresholds · z-score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anomaly checks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6995160" y="2103120"/>
            <a:ext cx="4800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77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475220" y="2103120"/>
            <a:ext cx="1828800" cy="1188720"/>
          </a:xfrm>
          <a:prstGeom prst="rect">
            <a:avLst/>
          </a:prstGeom>
          <a:solidFill>
            <a:srgbClr val="F2F8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 txBox="1"/>
          <p:nvPr/>
        </p:nvSpPr>
        <p:spPr>
          <a:xfrm>
            <a:off x="7475220" y="2240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3C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566660" y="260604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anomalies to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failures &amp; dashboards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9304020" y="2103120"/>
            <a:ext cx="4800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77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9784080" y="2103120"/>
            <a:ext cx="1828800" cy="1188720"/>
          </a:xfrm>
          <a:prstGeom prst="rect">
            <a:avLst/>
          </a:prstGeom>
          <a:solidFill>
            <a:srgbClr val="003C5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 txBox="1"/>
          <p:nvPr/>
        </p:nvSpPr>
        <p:spPr>
          <a:xfrm>
            <a:off x="9784080" y="2240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9875520" y="260604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E3E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evidence-based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3E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+ Markdown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36118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as an 11-node LangGraph StateGraph – sequential, typed, fully reproducible.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48640" y="4407408"/>
            <a:ext cx="118872" cy="118872"/>
          </a:xfrm>
          <a:prstGeom prst="ellipse">
            <a:avLst/>
          </a:prstGeom>
          <a:solidFill>
            <a:srgbClr val="12B28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 txBox="1"/>
          <p:nvPr/>
        </p:nvSpPr>
        <p:spPr>
          <a:xfrm>
            <a:off x="804672" y="4297680"/>
            <a:ext cx="5138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fabricate missing data – unknown stays unknown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217920" y="4407408"/>
            <a:ext cx="118872" cy="118872"/>
          </a:xfrm>
          <a:prstGeom prst="ellipse">
            <a:avLst/>
          </a:prstGeom>
          <a:solidFill>
            <a:srgbClr val="12B28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 txBox="1"/>
          <p:nvPr/>
        </p:nvSpPr>
        <p:spPr>
          <a:xfrm>
            <a:off x="6473952" y="4297680"/>
            <a:ext cx="5138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is reported as evidence, never as proof of root cause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48640" y="5001768"/>
            <a:ext cx="118872" cy="118872"/>
          </a:xfrm>
          <a:prstGeom prst="ellipse">
            <a:avLst/>
          </a:prstGeom>
          <a:solidFill>
            <a:srgbClr val="12B28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 txBox="1"/>
          <p:nvPr/>
        </p:nvSpPr>
        <p:spPr>
          <a:xfrm>
            <a:off x="804672" y="4892040"/>
            <a:ext cx="5138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PLC or machine control – human review before action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217920" y="5001768"/>
            <a:ext cx="118872" cy="118872"/>
          </a:xfrm>
          <a:prstGeom prst="ellipse">
            <a:avLst/>
          </a:prstGeom>
          <a:solidFill>
            <a:srgbClr val="12B28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 txBox="1"/>
          <p:nvPr/>
        </p:nvSpPr>
        <p:spPr>
          <a:xfrm>
            <a:off x="6473952" y="4892040"/>
            <a:ext cx="5138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local execution – no cloud call, works air-gapped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C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77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architecture decisions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0700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Architectural Design Document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D9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  |  FDE Capstone Program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D9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5394960" cy="1280160"/>
          </a:xfrm>
          <a:prstGeom prst="rect">
            <a:avLst/>
          </a:prstGeom>
          <a:solidFill>
            <a:srgbClr val="F2F8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777240" y="193852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C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vs. agent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28600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– steps are predictable and deterministic. An AI reasoning agent can be added later.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17920" y="1828800"/>
            <a:ext cx="5394960" cy="1280160"/>
          </a:xfrm>
          <a:prstGeom prst="rect">
            <a:avLst/>
          </a:prstGeom>
          <a:solidFill>
            <a:srgbClr val="F2F8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6446520" y="193852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C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228600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LangGraph, chosen for stateful orchestration and a clean path to future AI.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5394960" cy="1280160"/>
          </a:xfrm>
          <a:prstGeom prst="rect">
            <a:avLst/>
          </a:prstGeom>
          <a:solidFill>
            <a:srgbClr val="F2F8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777240" y="335584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C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data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370332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Pandas, Pydantic, local filesystem only – no cloud or external API dependency.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17920" y="3246120"/>
            <a:ext cx="5394960" cy="1280160"/>
          </a:xfrm>
          <a:prstGeom prst="rect">
            <a:avLst/>
          </a:prstGeom>
          <a:solidFill>
            <a:srgbClr val="F2F8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6446520" y="335584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C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strategy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446520" y="370332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LLM in V1. A small/mid model is the planned V2 step for text interpretation.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663440"/>
            <a:ext cx="5394960" cy="1280160"/>
          </a:xfrm>
          <a:prstGeom prst="rect">
            <a:avLst/>
          </a:prstGeom>
          <a:solidFill>
            <a:srgbClr val="F2F8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 txBox="1"/>
          <p:nvPr/>
        </p:nvSpPr>
        <p:spPr>
          <a:xfrm>
            <a:off x="777240" y="477316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C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handling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77240" y="512064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bad file never blocks the run; valid files continue, issues are logged and escalated.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217920" y="4663440"/>
            <a:ext cx="5394960" cy="1280160"/>
          </a:xfrm>
          <a:prstGeom prst="rect">
            <a:avLst/>
          </a:prstGeom>
          <a:solidFill>
            <a:srgbClr val="F2F8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 txBox="1"/>
          <p:nvPr/>
        </p:nvSpPr>
        <p:spPr>
          <a:xfrm>
            <a:off x="6446520" y="477316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C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446520" y="512064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supervisor validates every recommendation before action is taken.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C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77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Thin-slice prototype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0700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Spec-Driven Development: PRD → Spec → Stories → Acceptance Criteria → Code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D9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  |  FDE Capstone Program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D9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E3EFE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548640" y="18288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3C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377440" y="1828800"/>
            <a:ext cx="4800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77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857500" y="182880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E3EFE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2857500" y="18288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3C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Spec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686300" y="1828800"/>
            <a:ext cx="4800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77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166360" y="182880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E3EFE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5166360" y="18288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3C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Stories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995160" y="1828800"/>
            <a:ext cx="4800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77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475220" y="182880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E3EFE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7475220" y="18288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3C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03C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Criteria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9304020" y="1828800"/>
            <a:ext cx="4800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77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9784080" y="182880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E3EFE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 txBox="1"/>
          <p:nvPr/>
        </p:nvSpPr>
        <p:spPr>
          <a:xfrm>
            <a:off x="9784080" y="18288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3C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Base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2880360"/>
            <a:ext cx="2560320" cy="2148840"/>
          </a:xfrm>
          <a:prstGeom prst="rect">
            <a:avLst/>
          </a:prstGeom>
          <a:solidFill>
            <a:srgbClr val="F2F8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 txBox="1"/>
          <p:nvPr/>
        </p:nvSpPr>
        <p:spPr>
          <a:xfrm>
            <a:off x="731520" y="31089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77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8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" y="379476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stories covering ingestion, normalization, correlation and reporting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383280" y="2880360"/>
            <a:ext cx="2560320" cy="2148840"/>
          </a:xfrm>
          <a:prstGeom prst="rect">
            <a:avLst/>
          </a:prstGeom>
          <a:solidFill>
            <a:srgbClr val="F2F8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 txBox="1"/>
          <p:nvPr/>
        </p:nvSpPr>
        <p:spPr>
          <a:xfrm>
            <a:off x="3566160" y="31089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77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2800" dirty="0"/>
          </a:p>
        </p:txBody>
      </p:sp>
      <p:sp>
        <p:nvSpPr>
          <p:cNvPr id="26" name="Text 24"/>
          <p:cNvSpPr txBox="1"/>
          <p:nvPr/>
        </p:nvSpPr>
        <p:spPr>
          <a:xfrm>
            <a:off x="3566160" y="379476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tests written in GIVEN / WHEN / THEN format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217920" y="2880360"/>
            <a:ext cx="2560320" cy="2148840"/>
          </a:xfrm>
          <a:prstGeom prst="rect">
            <a:avLst/>
          </a:prstGeom>
          <a:solidFill>
            <a:srgbClr val="F2F8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 txBox="1"/>
          <p:nvPr/>
        </p:nvSpPr>
        <p:spPr>
          <a:xfrm>
            <a:off x="6400800" y="31089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77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</a:t>
            </a:r>
            <a:endParaRPr lang="en-US" sz="2800" dirty="0"/>
          </a:p>
        </p:txBody>
      </p:sp>
      <p:sp>
        <p:nvSpPr>
          <p:cNvPr id="29" name="Text 27"/>
          <p:cNvSpPr txBox="1"/>
          <p:nvPr/>
        </p:nvSpPr>
        <p:spPr>
          <a:xfrm>
            <a:off x="6400800" y="379476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unit and integration tests, all passing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9052560" y="2880360"/>
            <a:ext cx="2560320" cy="2148840"/>
          </a:xfrm>
          <a:prstGeom prst="rect">
            <a:avLst/>
          </a:prstGeom>
          <a:solidFill>
            <a:srgbClr val="F2F8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 txBox="1"/>
          <p:nvPr/>
        </p:nvSpPr>
        <p:spPr>
          <a:xfrm>
            <a:off x="9235440" y="31089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77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~1,500</a:t>
            </a:r>
            <a:endParaRPr lang="en-US" sz="2800" dirty="0"/>
          </a:p>
        </p:txBody>
      </p:sp>
      <p:sp>
        <p:nvSpPr>
          <p:cNvPr id="32" name="Text 30"/>
          <p:cNvSpPr txBox="1"/>
          <p:nvPr/>
        </p:nvSpPr>
        <p:spPr>
          <a:xfrm>
            <a:off x="9235440" y="379476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deterministic Python – parsers, normalization, analysis, 11-node workflow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52578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D9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data: 13 machines, 2 vendor formats, 60 days of telemetry – built to mirror the real plant's data reality.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5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86868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Every Decision Must Be Logic-Backed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9A97B8"/>
                </a:solidFill>
                <a:latin typeface="Calibri"/>
              </a:rPr>
              <a:t>Human-in-the-loop points for the maintenance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55448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Record for Each HITL Point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965960"/>
          <a:ext cx="4892039" cy="3072384"/>
        </p:xfrm>
        <a:graphic>
          <a:graphicData uri="http://schemas.openxmlformats.org/drawingml/2006/table">
            <a:tbl>
              <a:tblPr firstRow="1"/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3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Field</a:t>
                      </a:r>
                    </a:p>
                  </a:txBody>
                  <a:tcPr marL="109728" marR="109728" marT="54864" marB="54864" anchor="ctr">
                    <a:solidFill>
                      <a:srgbClr val="2425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Example</a:t>
                      </a:r>
                    </a:p>
                  </a:txBody>
                  <a:tcPr marL="109728" marR="109728" marT="54864" marB="54864" anchor="ctr">
                    <a:solidFill>
                      <a:srgbClr val="2425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C9C3F0"/>
                          </a:solidFill>
                          <a:latin typeface="Calibri"/>
                        </a:rPr>
                        <a:t>Decision</a:t>
                      </a:r>
                    </a:p>
                  </a:txBody>
                  <a:tcPr marL="109728" marR="109728" marT="54864" marB="54864" anchor="ctr">
                    <a:solidFill>
                      <a:srgbClr val="1D1F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E4E2F3"/>
                          </a:solidFill>
                          <a:latin typeface="Calibri"/>
                        </a:rPr>
                        <a:t>Escalate to maintenance supervisor</a:t>
                      </a:r>
                    </a:p>
                  </a:txBody>
                  <a:tcPr marL="109728" marR="109728" marT="54864" marB="54864" anchor="ctr">
                    <a:solidFill>
                      <a:srgbClr val="1D1F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C9C3F0"/>
                          </a:solidFill>
                          <a:latin typeface="Calibri"/>
                        </a:rPr>
                        <a:t>Trigger</a:t>
                      </a:r>
                    </a:p>
                  </a:txBody>
                  <a:tcPr marL="109728" marR="109728" marT="54864" marB="54864" anchor="ctr">
                    <a:solidFill>
                      <a:srgbClr val="1D1F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E4E2F3"/>
                          </a:solidFill>
                          <a:latin typeface="Calibri"/>
                        </a:rPr>
                        <a:t>Critical anomaly: spindle temp &gt; threshold</a:t>
                      </a:r>
                    </a:p>
                  </a:txBody>
                  <a:tcPr marL="109728" marR="109728" marT="54864" marB="54864" anchor="ctr">
                    <a:solidFill>
                      <a:srgbClr val="1D1F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C9C3F0"/>
                          </a:solidFill>
                          <a:latin typeface="Calibri"/>
                        </a:rPr>
                        <a:t>Oversight mode</a:t>
                      </a:r>
                    </a:p>
                  </a:txBody>
                  <a:tcPr marL="109728" marR="109728" marT="54864" marB="54864" anchor="ctr">
                    <a:solidFill>
                      <a:srgbClr val="1D1F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E4E2F3"/>
                          </a:solidFill>
                          <a:latin typeface="Calibri"/>
                        </a:rPr>
                        <a:t>Human-in-the-loop</a:t>
                      </a:r>
                    </a:p>
                  </a:txBody>
                  <a:tcPr marL="109728" marR="109728" marT="54864" marB="54864" anchor="ctr">
                    <a:solidFill>
                      <a:srgbClr val="1D1F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C9C3F0"/>
                          </a:solidFill>
                          <a:latin typeface="Calibri"/>
                        </a:rPr>
                        <a:t>Risk if absent</a:t>
                      </a:r>
                    </a:p>
                  </a:txBody>
                  <a:tcPr marL="109728" marR="109728" marT="54864" marB="54864" anchor="ctr">
                    <a:solidFill>
                      <a:srgbClr val="1D1F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E4E2F3"/>
                          </a:solidFill>
                          <a:latin typeface="Calibri"/>
                        </a:rPr>
                        <a:t>Unapproved maintenance shutdown</a:t>
                      </a:r>
                    </a:p>
                  </a:txBody>
                  <a:tcPr marL="109728" marR="109728" marT="54864" marB="54864" anchor="ctr">
                    <a:solidFill>
                      <a:srgbClr val="1D1F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C9C3F0"/>
                          </a:solidFill>
                          <a:latin typeface="Calibri"/>
                        </a:rPr>
                        <a:t>Evidence produced</a:t>
                      </a:r>
                    </a:p>
                  </a:txBody>
                  <a:tcPr marL="109728" marR="109728" marT="54864" marB="54864" anchor="ctr">
                    <a:solidFill>
                      <a:srgbClr val="1D1F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E4E2F3"/>
                          </a:solidFill>
                          <a:latin typeface="Calibri"/>
                        </a:rPr>
                        <a:t>Signed approval record in audit log</a:t>
                      </a:r>
                    </a:p>
                  </a:txBody>
                  <a:tcPr marL="109728" marR="109728" marT="54864" marB="54864" anchor="ctr">
                    <a:solidFill>
                      <a:srgbClr val="1D1F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cxnSp>
        <p:nvCxnSpPr>
          <p:cNvPr id="6" name="Connector 5"/>
          <p:cNvCxnSpPr/>
          <p:nvPr/>
        </p:nvCxnSpPr>
        <p:spPr>
          <a:xfrm>
            <a:off x="502920" y="2478024"/>
            <a:ext cx="4892039" cy="0"/>
          </a:xfrm>
          <a:prstGeom prst="line">
            <a:avLst/>
          </a:prstGeom>
          <a:ln w="6350">
            <a:solidFill>
              <a:srgbClr val="3A3B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02920" y="2990088"/>
            <a:ext cx="4892039" cy="0"/>
          </a:xfrm>
          <a:prstGeom prst="line">
            <a:avLst/>
          </a:prstGeom>
          <a:ln w="6350">
            <a:solidFill>
              <a:srgbClr val="3A3B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02920" y="3502152"/>
            <a:ext cx="4892039" cy="0"/>
          </a:xfrm>
          <a:prstGeom prst="line">
            <a:avLst/>
          </a:prstGeom>
          <a:ln w="6350">
            <a:solidFill>
              <a:srgbClr val="3A3B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02920" y="4014216"/>
            <a:ext cx="4892039" cy="0"/>
          </a:xfrm>
          <a:prstGeom prst="line">
            <a:avLst/>
          </a:prstGeom>
          <a:ln w="6350">
            <a:solidFill>
              <a:srgbClr val="3A3B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02920" y="4526280"/>
            <a:ext cx="4892039" cy="0"/>
          </a:xfrm>
          <a:prstGeom prst="line">
            <a:avLst/>
          </a:prstGeom>
          <a:ln w="6350">
            <a:solidFill>
              <a:srgbClr val="3A3B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502920" y="1965960"/>
            <a:ext cx="4892040" cy="3072384"/>
          </a:xfrm>
          <a:prstGeom prst="rect">
            <a:avLst/>
          </a:prstGeom>
          <a:noFill/>
          <a:ln w="12700">
            <a:solidFill>
              <a:srgbClr val="3A3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903720" y="123444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Placement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1938528"/>
            <a:ext cx="23545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HUMAN ON THE LOOP /
SAMPLING</a:t>
            </a:r>
          </a:p>
        </p:txBody>
      </p:sp>
      <p:sp>
        <p:nvSpPr>
          <p:cNvPr id="14" name="Oval 13"/>
          <p:cNvSpPr/>
          <p:nvPr/>
        </p:nvSpPr>
        <p:spPr>
          <a:xfrm>
            <a:off x="7070598" y="2441448"/>
            <a:ext cx="1380743" cy="1380743"/>
          </a:xfrm>
          <a:prstGeom prst="ellipse">
            <a:avLst/>
          </a:prstGeom>
          <a:solidFill>
            <a:srgbClr val="242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human_samp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5190" y="2606040"/>
            <a:ext cx="1051560" cy="10515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212580" y="1938528"/>
            <a:ext cx="23545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HUMAN APPROVES
BEFORE ACTION</a:t>
            </a:r>
          </a:p>
        </p:txBody>
      </p:sp>
      <p:sp>
        <p:nvSpPr>
          <p:cNvPr id="17" name="Oval 16"/>
          <p:cNvSpPr/>
          <p:nvPr/>
        </p:nvSpPr>
        <p:spPr>
          <a:xfrm>
            <a:off x="9699498" y="2441448"/>
            <a:ext cx="1380743" cy="1380743"/>
          </a:xfrm>
          <a:prstGeom prst="ellipse">
            <a:avLst/>
          </a:prstGeom>
          <a:solidFill>
            <a:srgbClr val="242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human_appro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4090" y="2606040"/>
            <a:ext cx="1051560" cy="105156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583680" y="3813048"/>
            <a:ext cx="23545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AUTOMATE AND
MONITOR</a:t>
            </a:r>
          </a:p>
        </p:txBody>
      </p:sp>
      <p:sp>
        <p:nvSpPr>
          <p:cNvPr id="20" name="Oval 19"/>
          <p:cNvSpPr/>
          <p:nvPr/>
        </p:nvSpPr>
        <p:spPr>
          <a:xfrm>
            <a:off x="7070598" y="4315968"/>
            <a:ext cx="1380743" cy="1380743"/>
          </a:xfrm>
          <a:prstGeom prst="ellipse">
            <a:avLst/>
          </a:prstGeom>
          <a:solidFill>
            <a:srgbClr val="242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automate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5190" y="4480559"/>
            <a:ext cx="1051560" cy="105156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212580" y="3813048"/>
            <a:ext cx="23545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AUTOMATE AND
MONITOR</a:t>
            </a:r>
          </a:p>
        </p:txBody>
      </p:sp>
      <p:sp>
        <p:nvSpPr>
          <p:cNvPr id="23" name="Oval 22"/>
          <p:cNvSpPr/>
          <p:nvPr/>
        </p:nvSpPr>
        <p:spPr>
          <a:xfrm>
            <a:off x="9699498" y="4315968"/>
            <a:ext cx="1380743" cy="1380743"/>
          </a:xfrm>
          <a:prstGeom prst="ellipse">
            <a:avLst/>
          </a:prstGeom>
          <a:solidFill>
            <a:srgbClr val="242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automate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64090" y="4480559"/>
            <a:ext cx="1051560" cy="1051560"/>
          </a:xfrm>
          <a:prstGeom prst="rect">
            <a:avLst/>
          </a:prstGeom>
        </p:spPr>
      </p:pic>
      <p:cxnSp>
        <p:nvCxnSpPr>
          <p:cNvPr id="25" name="Connector 24"/>
          <p:cNvCxnSpPr/>
          <p:nvPr/>
        </p:nvCxnSpPr>
        <p:spPr>
          <a:xfrm>
            <a:off x="9075420" y="1828800"/>
            <a:ext cx="0" cy="3749040"/>
          </a:xfrm>
          <a:prstGeom prst="line">
            <a:avLst/>
          </a:prstGeom>
          <a:ln w="12700">
            <a:solidFill>
              <a:srgbClr val="3A3B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446520" y="3703320"/>
            <a:ext cx="5257800" cy="0"/>
          </a:xfrm>
          <a:prstGeom prst="line">
            <a:avLst/>
          </a:prstGeom>
          <a:ln w="12700">
            <a:solidFill>
              <a:srgbClr val="3A3B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6446520" y="1828800"/>
            <a:ext cx="5257800" cy="3749039"/>
          </a:xfrm>
          <a:prstGeom prst="rect">
            <a:avLst/>
          </a:prstGeom>
          <a:noFill/>
          <a:ln w="12700">
            <a:solidFill>
              <a:srgbClr val="3A3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46520" y="1536192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9A97B8"/>
                </a:solidFill>
                <a:latin typeface="Calibri"/>
              </a:rPr>
              <a:t>high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5614416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9A97B8"/>
                </a:solidFill>
                <a:latin typeface="Calibri"/>
              </a:rPr>
              <a:t>low</a:t>
            </a:r>
          </a:p>
        </p:txBody>
      </p:sp>
      <p:sp>
        <p:nvSpPr>
          <p:cNvPr id="30" name="TextBox 29"/>
          <p:cNvSpPr txBox="1"/>
          <p:nvPr/>
        </p:nvSpPr>
        <p:spPr>
          <a:xfrm rot="16200000">
            <a:off x="5943600" y="3154679"/>
            <a:ext cx="10972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Impact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5888736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9A97B8"/>
                </a:solidFill>
                <a:latin typeface="Calibri"/>
              </a:rPr>
              <a:t>reversible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24160" y="5888736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9A97B8"/>
                </a:solidFill>
                <a:latin typeface="Calibri"/>
              </a:rPr>
              <a:t>irreversible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6144768"/>
            <a:ext cx="5257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Reversibility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4556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9A97B8"/>
                </a:solidFill>
                <a:latin typeface="Calibri"/>
              </a:rPr>
              <a:t>UST  |  FDE Capstone Program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37265" y="6455664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9A97B8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CFC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77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demo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0700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the prototype end to end on synthetic plant data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D9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  |  FDE Capstone Program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D9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10149840" cy="502920"/>
          </a:xfrm>
          <a:prstGeom prst="rect">
            <a:avLst/>
          </a:prstGeom>
          <a:solidFill>
            <a:srgbClr val="003C5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777240" y="178308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B2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 python -m maintenance_agent analyze ./sample_data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514600"/>
            <a:ext cx="2366010" cy="1051560"/>
          </a:xfrm>
          <a:prstGeom prst="rect">
            <a:avLst/>
          </a:prstGeom>
          <a:solidFill>
            <a:srgbClr val="F2F8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548640" y="2606040"/>
            <a:ext cx="23660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3C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136392"/>
            <a:ext cx="218313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143250" y="2514600"/>
            <a:ext cx="2366010" cy="1051560"/>
          </a:xfrm>
          <a:prstGeom prst="rect">
            <a:avLst/>
          </a:prstGeom>
          <a:solidFill>
            <a:srgbClr val="F2F8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3143250" y="2606040"/>
            <a:ext cx="23660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3C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3234690" y="3136392"/>
            <a:ext cx="218313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events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737860" y="2514600"/>
            <a:ext cx="2366010" cy="1051560"/>
          </a:xfrm>
          <a:prstGeom prst="rect">
            <a:avLst/>
          </a:prstGeom>
          <a:solidFill>
            <a:srgbClr val="F2F8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5737860" y="2606040"/>
            <a:ext cx="23660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3C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5829300" y="3136392"/>
            <a:ext cx="218313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signals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by confidence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332470" y="2514600"/>
            <a:ext cx="2366010" cy="1051560"/>
          </a:xfrm>
          <a:prstGeom prst="rect">
            <a:avLst/>
          </a:prstGeom>
          <a:solidFill>
            <a:srgbClr val="F2F8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 txBox="1"/>
          <p:nvPr/>
        </p:nvSpPr>
        <p:spPr>
          <a:xfrm>
            <a:off x="8332470" y="2606040"/>
            <a:ext cx="23660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3C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 sec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8423910" y="3136392"/>
            <a:ext cx="218313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3886200"/>
            <a:ext cx="10149840" cy="685800"/>
          </a:xfrm>
          <a:prstGeom prst="rect">
            <a:avLst/>
          </a:prstGeom>
          <a:solidFill>
            <a:srgbClr val="F2F8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 txBox="1"/>
          <p:nvPr/>
        </p:nvSpPr>
        <p:spPr>
          <a:xfrm>
            <a:off x="777240" y="388620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in pressure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943600" y="388620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20 failures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869680" y="4069080"/>
            <a:ext cx="1554480" cy="310896"/>
          </a:xfrm>
          <a:prstGeom prst="roundRect">
            <a:avLst>
              <a:gd name="adj" fmla="val 17647"/>
            </a:avLst>
          </a:prstGeom>
          <a:solidFill>
            <a:srgbClr val="D8F3E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 txBox="1"/>
          <p:nvPr/>
        </p:nvSpPr>
        <p:spPr>
          <a:xfrm>
            <a:off x="8869680" y="406908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3C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signal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4754880"/>
            <a:ext cx="10149840" cy="685800"/>
          </a:xfrm>
          <a:prstGeom prst="rect">
            <a:avLst/>
          </a:prstGeom>
          <a:solidFill>
            <a:srgbClr val="F2F8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 txBox="1"/>
          <p:nvPr/>
        </p:nvSpPr>
        <p:spPr>
          <a:xfrm>
            <a:off x="777240" y="475488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in spindle temperature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5943600" y="47548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20 failures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869680" y="4937760"/>
            <a:ext cx="1554480" cy="310896"/>
          </a:xfrm>
          <a:prstGeom prst="roundRect">
            <a:avLst>
              <a:gd name="adj" fmla="val 17647"/>
            </a:avLst>
          </a:prstGeom>
          <a:solidFill>
            <a:srgbClr val="E3EFE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 txBox="1"/>
          <p:nvPr/>
        </p:nvSpPr>
        <p:spPr>
          <a:xfrm>
            <a:off x="8869680" y="493776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3C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signal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5623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8D9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as candidate contributing factors with supporting evidence – correlation, not proof of root cause.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CFC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77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&amp; scaling path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0700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today, a clear budget for AI-enhancement tomorrow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D9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  |  FDE Capstone Program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D9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830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C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 –  Today (rule-based)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148840"/>
            <a:ext cx="4937760" cy="1737360"/>
          </a:xfrm>
          <a:prstGeom prst="rect">
            <a:avLst/>
          </a:prstGeom>
          <a:solidFill>
            <a:srgbClr val="F2F8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822960" y="23317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B2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8803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LLM cost per request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24612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only: $50–150 / month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cloud dependency, works air-gapped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760720" y="17830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C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 –  Future AI-enhanced path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760720" y="2231136"/>
            <a:ext cx="4937760" cy="1737360"/>
          </a:xfrm>
          <a:prstGeom prst="rect">
            <a:avLst/>
          </a:prstGeom>
          <a:solidFill>
            <a:srgbClr val="F2F8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6035040" y="23317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77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$0.033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6035040" y="28803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request  (3 LLM calls, tiered Haiku + Sonnet)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035040" y="324612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Pilot: ~$13–20 / month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(10K req/day): ~$5,000–9,900 / month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1605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cost levers for V2, without losing quality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4572000"/>
            <a:ext cx="3200400" cy="1280160"/>
          </a:xfrm>
          <a:prstGeom prst="rect">
            <a:avLst/>
          </a:prstGeom>
          <a:solidFill>
            <a:srgbClr val="F2F8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 txBox="1"/>
          <p:nvPr/>
        </p:nvSpPr>
        <p:spPr>
          <a:xfrm>
            <a:off x="731520" y="468172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2B2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−36%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" y="510235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tiering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31520" y="53949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Haiku for parsing, Sonnet for reasoning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023360" y="4572000"/>
            <a:ext cx="3200400" cy="1280160"/>
          </a:xfrm>
          <a:prstGeom prst="rect">
            <a:avLst/>
          </a:prstGeom>
          <a:solidFill>
            <a:srgbClr val="F2F8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 txBox="1"/>
          <p:nvPr/>
        </p:nvSpPr>
        <p:spPr>
          <a:xfrm>
            <a:off x="4206240" y="468172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2B2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−6%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4206240" y="510235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caching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4206240" y="53949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static machine &amp; schema context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498080" y="4572000"/>
            <a:ext cx="3200400" cy="1280160"/>
          </a:xfrm>
          <a:prstGeom prst="rect">
            <a:avLst/>
          </a:prstGeom>
          <a:solidFill>
            <a:srgbClr val="F2F8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 txBox="1"/>
          <p:nvPr/>
        </p:nvSpPr>
        <p:spPr>
          <a:xfrm>
            <a:off x="7680960" y="468172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2B2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−20%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7680960" y="510235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API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680960" y="53949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processing for non-urgent trend reports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CFC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77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outcomes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0700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thin slice proved – and what it did not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D9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  |  FDE Capstone Program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D9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830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B2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240280"/>
            <a:ext cx="128016" cy="128016"/>
          </a:xfrm>
          <a:prstGeom prst="ellipse">
            <a:avLst/>
          </a:prstGeom>
          <a:solidFill>
            <a:srgbClr val="12B28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822960" y="2121408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Heterogeneous vendor data (CSV, JSON, free text) normalizes into one common schema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017520"/>
            <a:ext cx="128016" cy="128016"/>
          </a:xfrm>
          <a:prstGeom prst="ellipse">
            <a:avLst/>
          </a:prstGeom>
          <a:solidFill>
            <a:srgbClr val="12B28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822960" y="2898648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rule-based pipeline finds a strong candidate signal (pressure) and a moderate one (temperature)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794760"/>
            <a:ext cx="128016" cy="128016"/>
          </a:xfrm>
          <a:prstGeom prst="ellipse">
            <a:avLst/>
          </a:prstGeom>
          <a:solidFill>
            <a:srgbClr val="12B28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822960" y="3675888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runs 100% locally, air-gapped, in under a second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572000"/>
            <a:ext cx="128016" cy="128016"/>
          </a:xfrm>
          <a:prstGeom prst="ellipse">
            <a:avLst/>
          </a:prstGeom>
          <a:solidFill>
            <a:srgbClr val="12B28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822960" y="4453128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is ready for AI to be added later without a rewrite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126480" y="17830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open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126480" y="2240280"/>
            <a:ext cx="128016" cy="128016"/>
          </a:xfrm>
          <a:prstGeom prst="ellipse">
            <a:avLst/>
          </a:prstGeom>
          <a:solidFill>
            <a:srgbClr val="8D9AA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6400800" y="2121408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correlation, not proof of root cause – findings need maintenance-team validation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26480" y="3108960"/>
            <a:ext cx="128016" cy="128016"/>
          </a:xfrm>
          <a:prstGeom prst="ellipse">
            <a:avLst/>
          </a:prstGeom>
          <a:solidFill>
            <a:srgbClr val="8D9AA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 txBox="1"/>
          <p:nvPr/>
        </p:nvSpPr>
        <p:spPr>
          <a:xfrm>
            <a:off x="6400800" y="2990088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~20% of machines still have no telemetry and stay flagged, not guessed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26480" y="3977640"/>
            <a:ext cx="128016" cy="128016"/>
          </a:xfrm>
          <a:prstGeom prst="ellipse">
            <a:avLst/>
          </a:prstGeom>
          <a:solidFill>
            <a:srgbClr val="8D9AA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 txBox="1"/>
          <p:nvPr/>
        </p:nvSpPr>
        <p:spPr>
          <a:xfrm>
            <a:off x="6400800" y="3858768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data is synthetic; results must be re-run against real plant data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5349240"/>
            <a:ext cx="10149840" cy="777240"/>
          </a:xfrm>
          <a:prstGeom prst="rect">
            <a:avLst/>
          </a:prstGeom>
          <a:solidFill>
            <a:srgbClr val="003C5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 txBox="1"/>
          <p:nvPr/>
        </p:nvSpPr>
        <p:spPr>
          <a:xfrm>
            <a:off x="822960" y="534924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line: the data does contain early warning signals worth acting on – enough evidence to justify expanding this thin slice toward the OEM scorecard.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1240</Words>
  <Application>Microsoft Office PowerPoint</Application>
  <PresentationFormat>Custom</PresentationFormat>
  <Paragraphs>246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Lijaz Salim(UST,IN)</cp:lastModifiedBy>
  <cp:revision>4</cp:revision>
  <dcterms:created xsi:type="dcterms:W3CDTF">2026-09-22T10:28:09Z</dcterms:created>
  <dcterms:modified xsi:type="dcterms:W3CDTF">2026-09-23T04:34:00Z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5ffddfa-74ad-4c1f-9757-a38a11902f1c_Enabled">
    <vt:lpwstr>true</vt:lpwstr>
  </property>
  <property fmtid="{D5CDD505-2E9C-101B-9397-08002B2CF9AE}" pid="3" name="MSIP_Label_15ffddfa-74ad-4c1f-9757-a38a11902f1c_SetDate">
    <vt:lpwstr>2026-09-22T11:05:42Z</vt:lpwstr>
  </property>
  <property fmtid="{D5CDD505-2E9C-101B-9397-08002B2CF9AE}" pid="4" name="MSIP_Label_15ffddfa-74ad-4c1f-9757-a38a11902f1c_Method">
    <vt:lpwstr>Standard</vt:lpwstr>
  </property>
  <property fmtid="{D5CDD505-2E9C-101B-9397-08002B2CF9AE}" pid="5" name="MSIP_Label_15ffddfa-74ad-4c1f-9757-a38a11902f1c_Name">
    <vt:lpwstr>UST Internal</vt:lpwstr>
  </property>
  <property fmtid="{D5CDD505-2E9C-101B-9397-08002B2CF9AE}" pid="6" name="MSIP_Label_15ffddfa-74ad-4c1f-9757-a38a11902f1c_SiteId">
    <vt:lpwstr>a4431f4b-c207-4733-9530-34c08a9b2b8d</vt:lpwstr>
  </property>
  <property fmtid="{D5CDD505-2E9C-101B-9397-08002B2CF9AE}" pid="7" name="MSIP_Label_15ffddfa-74ad-4c1f-9757-a38a11902f1c_ActionId">
    <vt:lpwstr>86793780-aa34-4d06-9d5d-aefb04eb195f</vt:lpwstr>
  </property>
  <property fmtid="{D5CDD505-2E9C-101B-9397-08002B2CF9AE}" pid="8" name="MSIP_Label_15ffddfa-74ad-4c1f-9757-a38a11902f1c_ContentBits">
    <vt:lpwstr>0</vt:lpwstr>
  </property>
  <property fmtid="{D5CDD505-2E9C-101B-9397-08002B2CF9AE}" pid="9" name="MSIP_Label_15ffddfa-74ad-4c1f-9757-a38a11902f1c_Tag">
    <vt:lpwstr>10, 3, 0, 1</vt:lpwstr>
  </property>
</Properties>
</file>